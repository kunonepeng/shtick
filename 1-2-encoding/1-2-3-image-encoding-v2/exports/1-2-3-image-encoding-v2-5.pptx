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233cd0375d4b5e" /><Relationship Type="http://schemas.openxmlformats.org/officeDocument/2006/relationships/extended-properties" Target="/docProps/app.xml" Id="Re7c5be1c12b64489" /><Relationship Type="http://schemas.openxmlformats.org/officeDocument/2006/relationships/officeDocument" Target="/ppt/presentation.xml" Id="R3cd16868a12e47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7bf5ea3e8e4bc3"/>
  </p:sldMasterIdLst>
  <p:notesMasterIdLst>
    <p:notesMasterId xmlns:r="http://schemas.openxmlformats.org/officeDocument/2006/relationships" r:id="Rc534e36627ff4d86"/>
  </p:notesMasterIdLst>
  <p:sldIdLst>
    <p:sldId xmlns:r="http://schemas.openxmlformats.org/officeDocument/2006/relationships" id="256" r:id="Rbe3f61dc23e54e73"/>
    <p:sldId xmlns:r="http://schemas.openxmlformats.org/officeDocument/2006/relationships" id="257" r:id="Rbd0e10bc654d4ff9"/>
    <p:sldId xmlns:r="http://schemas.openxmlformats.org/officeDocument/2006/relationships" id="258" r:id="R2731892e90fb4414"/>
    <p:sldId xmlns:r="http://schemas.openxmlformats.org/officeDocument/2006/relationships" id="259" r:id="R24b854180c654faf"/>
    <p:sldId xmlns:r="http://schemas.openxmlformats.org/officeDocument/2006/relationships" id="260" r:id="Rffac4d90bc4b4d74"/>
    <p:sldId xmlns:r="http://schemas.openxmlformats.org/officeDocument/2006/relationships" id="261" r:id="R57d8783d00894ab7"/>
    <p:sldId xmlns:r="http://schemas.openxmlformats.org/officeDocument/2006/relationships" id="262" r:id="R2371e60552f046b0"/>
    <p:sldId xmlns:r="http://schemas.openxmlformats.org/officeDocument/2006/relationships" id="263" r:id="Rf9db1bad63cd4a41"/>
    <p:sldId xmlns:r="http://schemas.openxmlformats.org/officeDocument/2006/relationships" id="264" r:id="R3765abf68c5147b8"/>
    <p:sldId xmlns:r="http://schemas.openxmlformats.org/officeDocument/2006/relationships" id="265" r:id="R0304f6e474ec4b73"/>
    <p:sldId xmlns:r="http://schemas.openxmlformats.org/officeDocument/2006/relationships" id="266" r:id="R830d95edcbae4e32"/>
    <p:sldId xmlns:r="http://schemas.openxmlformats.org/officeDocument/2006/relationships" id="267" r:id="R79beebb6a28c4841"/>
    <p:sldId xmlns:r="http://schemas.openxmlformats.org/officeDocument/2006/relationships" id="268" r:id="R0b1233caa6ee4b16"/>
    <p:sldId xmlns:r="http://schemas.openxmlformats.org/officeDocument/2006/relationships" id="269" r:id="Rb5fb706a1650400f"/>
    <p:sldId xmlns:r="http://schemas.openxmlformats.org/officeDocument/2006/relationships" id="270" r:id="Rfec3ce51cccf4e37"/>
    <p:sldId xmlns:r="http://schemas.openxmlformats.org/officeDocument/2006/relationships" id="271" r:id="Rc426640698c34696"/>
    <p:sldId xmlns:r="http://schemas.openxmlformats.org/officeDocument/2006/relationships" id="272" r:id="Re30e10a78d3c4735"/>
    <p:sldId xmlns:r="http://schemas.openxmlformats.org/officeDocument/2006/relationships" id="273" r:id="R16ef3a82c3704752"/>
    <p:sldId xmlns:r="http://schemas.openxmlformats.org/officeDocument/2006/relationships" id="274" r:id="R1991cff58e3f4cc1"/>
    <p:sldId xmlns:r="http://schemas.openxmlformats.org/officeDocument/2006/relationships" id="275" r:id="R09f57b386c5648b2"/>
    <p:sldId xmlns:r="http://schemas.openxmlformats.org/officeDocument/2006/relationships" id="276" r:id="R94755c7aec04409f"/>
    <p:sldId xmlns:r="http://schemas.openxmlformats.org/officeDocument/2006/relationships" id="277" r:id="R83afaf23bd3543ab"/>
    <p:sldId xmlns:r="http://schemas.openxmlformats.org/officeDocument/2006/relationships" id="278" r:id="R3866231ca57a45e3"/>
    <p:sldId xmlns:r="http://schemas.openxmlformats.org/officeDocument/2006/relationships" id="279" r:id="R64299b0ee3414d5d"/>
    <p:sldId xmlns:r="http://schemas.openxmlformats.org/officeDocument/2006/relationships" id="280" r:id="Rd054e31a50224f68"/>
    <p:sldId xmlns:r="http://schemas.openxmlformats.org/officeDocument/2006/relationships" id="281" r:id="Rc43fff02b02c430b"/>
    <p:sldId xmlns:r="http://schemas.openxmlformats.org/officeDocument/2006/relationships" id="282" r:id="R0803fbee12e04137"/>
    <p:sldId xmlns:r="http://schemas.openxmlformats.org/officeDocument/2006/relationships" id="283" r:id="Rd7062b0e7f004b65"/>
    <p:sldId xmlns:r="http://schemas.openxmlformats.org/officeDocument/2006/relationships" id="284" r:id="R43f415bd18244107"/>
    <p:sldId xmlns:r="http://schemas.openxmlformats.org/officeDocument/2006/relationships" id="285" r:id="R4b9807345f8f4aef"/>
    <p:sldId xmlns:r="http://schemas.openxmlformats.org/officeDocument/2006/relationships" id="286" r:id="R90ed690358f3425f"/>
    <p:sldId xmlns:r="http://schemas.openxmlformats.org/officeDocument/2006/relationships" id="287" r:id="Rc0fc8b789e4849f7"/>
    <p:sldId xmlns:r="http://schemas.openxmlformats.org/officeDocument/2006/relationships" id="288" r:id="R1cdc4feea9a84f27"/>
    <p:sldId xmlns:r="http://schemas.openxmlformats.org/officeDocument/2006/relationships" id="289" r:id="Rd0be2af8cbc54cf9"/>
    <p:sldId xmlns:r="http://schemas.openxmlformats.org/officeDocument/2006/relationships" id="290" r:id="R12f07536535b4c0d"/>
    <p:sldId xmlns:r="http://schemas.openxmlformats.org/officeDocument/2006/relationships" id="291" r:id="R83023caf9e5b42cc"/>
    <p:sldId xmlns:r="http://schemas.openxmlformats.org/officeDocument/2006/relationships" id="292" r:id="R289e1f8f5d964e85"/>
    <p:sldId xmlns:r="http://schemas.openxmlformats.org/officeDocument/2006/relationships" id="293" r:id="R65f160b72f8141c7"/>
    <p:sldId xmlns:r="http://schemas.openxmlformats.org/officeDocument/2006/relationships" id="294" r:id="Rfd246227a64b4d60"/>
    <p:sldId xmlns:r="http://schemas.openxmlformats.org/officeDocument/2006/relationships" id="295" r:id="Rd09a2b9374164217"/>
    <p:sldId xmlns:r="http://schemas.openxmlformats.org/officeDocument/2006/relationships" id="296" r:id="R337769c53c4c45f0"/>
    <p:sldId xmlns:r="http://schemas.openxmlformats.org/officeDocument/2006/relationships" id="297" r:id="R2deb131e17a5443d"/>
    <p:sldId xmlns:r="http://schemas.openxmlformats.org/officeDocument/2006/relationships" id="298" r:id="Rcd079bd533524a7a"/>
    <p:sldId xmlns:r="http://schemas.openxmlformats.org/officeDocument/2006/relationships" id="299" r:id="R6432c0686bbe4d4a"/>
    <p:sldId xmlns:r="http://schemas.openxmlformats.org/officeDocument/2006/relationships" id="300" r:id="Ra0edd51a4b7d4bee"/>
    <p:sldId xmlns:r="http://schemas.openxmlformats.org/officeDocument/2006/relationships" id="301" r:id="R5278f20a63544e37"/>
    <p:sldId xmlns:r="http://schemas.openxmlformats.org/officeDocument/2006/relationships" id="302" r:id="R791452b43ef34c9a"/>
    <p:sldId xmlns:r="http://schemas.openxmlformats.org/officeDocument/2006/relationships" id="303" r:id="R86d7f33e257f44c7"/>
    <p:sldId xmlns:r="http://schemas.openxmlformats.org/officeDocument/2006/relationships" id="304" r:id="Re4748a2655ec4adc"/>
    <p:sldId xmlns:r="http://schemas.openxmlformats.org/officeDocument/2006/relationships" id="305" r:id="Red6cc1bb728b4968"/>
    <p:sldId xmlns:r="http://schemas.openxmlformats.org/officeDocument/2006/relationships" id="306" r:id="Re64647765b5349a5"/>
    <p:sldId xmlns:r="http://schemas.openxmlformats.org/officeDocument/2006/relationships" id="307" r:id="R8313ebfeeaa34706"/>
    <p:sldId xmlns:r="http://schemas.openxmlformats.org/officeDocument/2006/relationships" id="308" r:id="R86b44d9f278a4ef9"/>
    <p:sldId xmlns:r="http://schemas.openxmlformats.org/officeDocument/2006/relationships" id="309" r:id="R834be4a255634de5"/>
    <p:sldId xmlns:r="http://schemas.openxmlformats.org/officeDocument/2006/relationships" id="310" r:id="Rc69e7a864dad495a"/>
    <p:sldId xmlns:r="http://schemas.openxmlformats.org/officeDocument/2006/relationships" id="311" r:id="Re80388b2defe46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3f9c464c3f4ec4" /><Relationship Type="http://schemas.openxmlformats.org/officeDocument/2006/relationships/slideMaster" Target="/ppt/slideMasters/slideMaster1.xml" Id="R407bf5ea3e8e4bc3" /><Relationship Type="http://schemas.openxmlformats.org/officeDocument/2006/relationships/notesMaster" Target="/ppt/notesMasters/notesMaster1.xml" Id="Rc534e36627ff4d86" /><Relationship Type="http://schemas.openxmlformats.org/officeDocument/2006/relationships/presProps" Target="/ppt/presProps.xml" Id="Rc8db63f9cf82431d" /><Relationship Type="http://schemas.openxmlformats.org/officeDocument/2006/relationships/tableStyles" Target="/ppt/tableStyles.xml" Id="Rcf87fa1eb0924371" /><Relationship Type="http://schemas.openxmlformats.org/officeDocument/2006/relationships/slide" Target="/ppt/slides/slide1.xml" Id="Rbe3f61dc23e54e73" /><Relationship Type="http://schemas.openxmlformats.org/officeDocument/2006/relationships/slide" Target="/ppt/slides/slide2.xml" Id="Rbd0e10bc654d4ff9" /><Relationship Type="http://schemas.openxmlformats.org/officeDocument/2006/relationships/slide" Target="/ppt/slides/slide3.xml" Id="R2731892e90fb4414" /><Relationship Type="http://schemas.openxmlformats.org/officeDocument/2006/relationships/slide" Target="/ppt/slides/slide4.xml" Id="R24b854180c654faf" /><Relationship Type="http://schemas.openxmlformats.org/officeDocument/2006/relationships/slide" Target="/ppt/slides/slide5.xml" Id="Rffac4d90bc4b4d74" /><Relationship Type="http://schemas.openxmlformats.org/officeDocument/2006/relationships/slide" Target="/ppt/slides/slide6.xml" Id="R57d8783d00894ab7" /><Relationship Type="http://schemas.openxmlformats.org/officeDocument/2006/relationships/slide" Target="/ppt/slides/slide7.xml" Id="R2371e60552f046b0" /><Relationship Type="http://schemas.openxmlformats.org/officeDocument/2006/relationships/slide" Target="/ppt/slides/slide8.xml" Id="Rf9db1bad63cd4a41" /><Relationship Type="http://schemas.openxmlformats.org/officeDocument/2006/relationships/slide" Target="/ppt/slides/slide9.xml" Id="R3765abf68c5147b8" /><Relationship Type="http://schemas.openxmlformats.org/officeDocument/2006/relationships/slide" Target="/ppt/slides/slide10.xml" Id="R0304f6e474ec4b73" /><Relationship Type="http://schemas.openxmlformats.org/officeDocument/2006/relationships/slide" Target="/ppt/slides/slide11.xml" Id="R830d95edcbae4e32" /><Relationship Type="http://schemas.openxmlformats.org/officeDocument/2006/relationships/slide" Target="/ppt/slides/slide12.xml" Id="R79beebb6a28c4841" /><Relationship Type="http://schemas.openxmlformats.org/officeDocument/2006/relationships/slide" Target="/ppt/slides/slide13.xml" Id="R0b1233caa6ee4b16" /><Relationship Type="http://schemas.openxmlformats.org/officeDocument/2006/relationships/slide" Target="/ppt/slides/slide14.xml" Id="Rb5fb706a1650400f" /><Relationship Type="http://schemas.openxmlformats.org/officeDocument/2006/relationships/slide" Target="/ppt/slides/slide15.xml" Id="Rfec3ce51cccf4e37" /><Relationship Type="http://schemas.openxmlformats.org/officeDocument/2006/relationships/slide" Target="/ppt/slides/slide16.xml" Id="Rc426640698c34696" /><Relationship Type="http://schemas.openxmlformats.org/officeDocument/2006/relationships/slide" Target="/ppt/slides/slide17.xml" Id="Re30e10a78d3c4735" /><Relationship Type="http://schemas.openxmlformats.org/officeDocument/2006/relationships/slide" Target="/ppt/slides/slide18.xml" Id="R16ef3a82c3704752" /><Relationship Type="http://schemas.openxmlformats.org/officeDocument/2006/relationships/slide" Target="/ppt/slides/slide19.xml" Id="R1991cff58e3f4cc1" /><Relationship Type="http://schemas.openxmlformats.org/officeDocument/2006/relationships/slide" Target="/ppt/slides/slide20.xml" Id="R09f57b386c5648b2" /><Relationship Type="http://schemas.openxmlformats.org/officeDocument/2006/relationships/slide" Target="/ppt/slides/slide21.xml" Id="R94755c7aec04409f" /><Relationship Type="http://schemas.openxmlformats.org/officeDocument/2006/relationships/slide" Target="/ppt/slides/slide22.xml" Id="R83afaf23bd3543ab" /><Relationship Type="http://schemas.openxmlformats.org/officeDocument/2006/relationships/slide" Target="/ppt/slides/slide23.xml" Id="R3866231ca57a45e3" /><Relationship Type="http://schemas.openxmlformats.org/officeDocument/2006/relationships/slide" Target="/ppt/slides/slide24.xml" Id="R64299b0ee3414d5d" /><Relationship Type="http://schemas.openxmlformats.org/officeDocument/2006/relationships/slide" Target="/ppt/slides/slide25.xml" Id="Rd054e31a50224f68" /><Relationship Type="http://schemas.openxmlformats.org/officeDocument/2006/relationships/slide" Target="/ppt/slides/slide26.xml" Id="Rc43fff02b02c430b" /><Relationship Type="http://schemas.openxmlformats.org/officeDocument/2006/relationships/slide" Target="/ppt/slides/slide27.xml" Id="R0803fbee12e04137" /><Relationship Type="http://schemas.openxmlformats.org/officeDocument/2006/relationships/slide" Target="/ppt/slides/slide28.xml" Id="Rd7062b0e7f004b65" /><Relationship Type="http://schemas.openxmlformats.org/officeDocument/2006/relationships/slide" Target="/ppt/slides/slide29.xml" Id="R43f415bd18244107" /><Relationship Type="http://schemas.openxmlformats.org/officeDocument/2006/relationships/slide" Target="/ppt/slides/slide30.xml" Id="R4b9807345f8f4aef" /><Relationship Type="http://schemas.openxmlformats.org/officeDocument/2006/relationships/slide" Target="/ppt/slides/slide31.xml" Id="R90ed690358f3425f" /><Relationship Type="http://schemas.openxmlformats.org/officeDocument/2006/relationships/slide" Target="/ppt/slides/slide32.xml" Id="Rc0fc8b789e4849f7" /><Relationship Type="http://schemas.openxmlformats.org/officeDocument/2006/relationships/slide" Target="/ppt/slides/slide33.xml" Id="R1cdc4feea9a84f27" /><Relationship Type="http://schemas.openxmlformats.org/officeDocument/2006/relationships/slide" Target="/ppt/slides/slide34.xml" Id="Rd0be2af8cbc54cf9" /><Relationship Type="http://schemas.openxmlformats.org/officeDocument/2006/relationships/slide" Target="/ppt/slides/slide35.xml" Id="R12f07536535b4c0d" /><Relationship Type="http://schemas.openxmlformats.org/officeDocument/2006/relationships/slide" Target="/ppt/slides/slide36.xml" Id="R83023caf9e5b42cc" /><Relationship Type="http://schemas.openxmlformats.org/officeDocument/2006/relationships/slide" Target="/ppt/slides/slide37.xml" Id="R289e1f8f5d964e85" /><Relationship Type="http://schemas.openxmlformats.org/officeDocument/2006/relationships/slide" Target="/ppt/slides/slide38.xml" Id="R65f160b72f8141c7" /><Relationship Type="http://schemas.openxmlformats.org/officeDocument/2006/relationships/slide" Target="/ppt/slides/slide39.xml" Id="Rfd246227a64b4d60" /><Relationship Type="http://schemas.openxmlformats.org/officeDocument/2006/relationships/slide" Target="/ppt/slides/slide40.xml" Id="Rd09a2b9374164217" /><Relationship Type="http://schemas.openxmlformats.org/officeDocument/2006/relationships/slide" Target="/ppt/slides/slide41.xml" Id="R337769c53c4c45f0" /><Relationship Type="http://schemas.openxmlformats.org/officeDocument/2006/relationships/slide" Target="/ppt/slides/slide42.xml" Id="R2deb131e17a5443d" /><Relationship Type="http://schemas.openxmlformats.org/officeDocument/2006/relationships/slide" Target="/ppt/slides/slide43.xml" Id="Rcd079bd533524a7a" /><Relationship Type="http://schemas.openxmlformats.org/officeDocument/2006/relationships/slide" Target="/ppt/slides/slide44.xml" Id="R6432c0686bbe4d4a" /><Relationship Type="http://schemas.openxmlformats.org/officeDocument/2006/relationships/slide" Target="/ppt/slides/slide45.xml" Id="Ra0edd51a4b7d4bee" /><Relationship Type="http://schemas.openxmlformats.org/officeDocument/2006/relationships/slide" Target="/ppt/slides/slide46.xml" Id="R5278f20a63544e37" /><Relationship Type="http://schemas.openxmlformats.org/officeDocument/2006/relationships/slide" Target="/ppt/slides/slide47.xml" Id="R791452b43ef34c9a" /><Relationship Type="http://schemas.openxmlformats.org/officeDocument/2006/relationships/slide" Target="/ppt/slides/slide48.xml" Id="R86d7f33e257f44c7" /><Relationship Type="http://schemas.openxmlformats.org/officeDocument/2006/relationships/slide" Target="/ppt/slides/slide49.xml" Id="Re4748a2655ec4adc" /><Relationship Type="http://schemas.openxmlformats.org/officeDocument/2006/relationships/slide" Target="/ppt/slides/slide50.xml" Id="Red6cc1bb728b4968" /><Relationship Type="http://schemas.openxmlformats.org/officeDocument/2006/relationships/slide" Target="/ppt/slides/slide51.xml" Id="Re64647765b5349a5" /><Relationship Type="http://schemas.openxmlformats.org/officeDocument/2006/relationships/slide" Target="/ppt/slides/slide52.xml" Id="R8313ebfeeaa34706" /><Relationship Type="http://schemas.openxmlformats.org/officeDocument/2006/relationships/slide" Target="/ppt/slides/slide53.xml" Id="R86b44d9f278a4ef9" /><Relationship Type="http://schemas.openxmlformats.org/officeDocument/2006/relationships/slide" Target="/ppt/slides/slide54.xml" Id="R834be4a255634de5" /><Relationship Type="http://schemas.openxmlformats.org/officeDocument/2006/relationships/slide" Target="/ppt/slides/slide55.xml" Id="Rc69e7a864dad495a" /><Relationship Type="http://schemas.openxmlformats.org/officeDocument/2006/relationships/slide" Target="/ppt/slides/slide56.xml" Id="Re80388b2defe46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b3eb1296794d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c661711a64a2f" /><Relationship Type="http://schemas.openxmlformats.org/officeDocument/2006/relationships/notesMaster" Target="/ppt/notesMasters/notesMaster1.xml" Id="Re8030f36455241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fc6886c513450b" /><Relationship Type="http://schemas.openxmlformats.org/officeDocument/2006/relationships/notesMaster" Target="/ppt/notesMasters/notesMaster1.xml" Id="Rbefa34df7afb44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a21237ecc342cd" /><Relationship Type="http://schemas.openxmlformats.org/officeDocument/2006/relationships/notesMaster" Target="/ppt/notesMasters/notesMaster1.xml" Id="R3677946d25f744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8943a2dada4fc4" /><Relationship Type="http://schemas.openxmlformats.org/officeDocument/2006/relationships/notesMaster" Target="/ppt/notesMasters/notesMaster1.xml" Id="R194bfdfa39b844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c2979e57c24f6d" /><Relationship Type="http://schemas.openxmlformats.org/officeDocument/2006/relationships/notesMaster" Target="/ppt/notesMasters/notesMaster1.xml" Id="R8990d701ec2548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3f260bdd1b4b1c" /><Relationship Type="http://schemas.openxmlformats.org/officeDocument/2006/relationships/notesMaster" Target="/ppt/notesMasters/notesMaster1.xml" Id="Rd4f618e5040a4f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a592781fc14045" /><Relationship Type="http://schemas.openxmlformats.org/officeDocument/2006/relationships/notesMaster" Target="/ppt/notesMasters/notesMaster1.xml" Id="Rb0ec3ae30dc14e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ce14e743694fe8" /><Relationship Type="http://schemas.openxmlformats.org/officeDocument/2006/relationships/notesMaster" Target="/ppt/notesMasters/notesMaster1.xml" Id="R5ccf3805af124a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5cbff871b14956" /><Relationship Type="http://schemas.openxmlformats.org/officeDocument/2006/relationships/notesMaster" Target="/ppt/notesMasters/notesMaster1.xml" Id="R088667718be54b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33074d0b9041b2" /><Relationship Type="http://schemas.openxmlformats.org/officeDocument/2006/relationships/notesMaster" Target="/ppt/notesMasters/notesMaster1.xml" Id="R50afa514a1da4f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34f31a74514788" /><Relationship Type="http://schemas.openxmlformats.org/officeDocument/2006/relationships/notesMaster" Target="/ppt/notesMasters/notesMaster1.xml" Id="Rdce659beb00546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4ebd104fff4102" /><Relationship Type="http://schemas.openxmlformats.org/officeDocument/2006/relationships/notesMaster" Target="/ppt/notesMasters/notesMaster1.xml" Id="R2b59009c59864b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44a68994b14b7d" /><Relationship Type="http://schemas.openxmlformats.org/officeDocument/2006/relationships/notesMaster" Target="/ppt/notesMasters/notesMaster1.xml" Id="R40b67df7a4fc42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010ba029f14a5d" /><Relationship Type="http://schemas.openxmlformats.org/officeDocument/2006/relationships/notesMaster" Target="/ppt/notesMasters/notesMaster1.xml" Id="R266eb8f015dc4c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8de4c740d94970" /><Relationship Type="http://schemas.openxmlformats.org/officeDocument/2006/relationships/notesMaster" Target="/ppt/notesMasters/notesMaster1.xml" Id="Rc86a72a5222d42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21055a436b46b4" /><Relationship Type="http://schemas.openxmlformats.org/officeDocument/2006/relationships/notesMaster" Target="/ppt/notesMasters/notesMaster1.xml" Id="R89c966ce6e1c47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d35d9514a847bc" /><Relationship Type="http://schemas.openxmlformats.org/officeDocument/2006/relationships/notesMaster" Target="/ppt/notesMasters/notesMaster1.xml" Id="Rccf85b8971584b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447ef1d22f4806" /><Relationship Type="http://schemas.openxmlformats.org/officeDocument/2006/relationships/notesMaster" Target="/ppt/notesMasters/notesMaster1.xml" Id="Rf54f01e7f9214f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7deb3d8c4848c0" /><Relationship Type="http://schemas.openxmlformats.org/officeDocument/2006/relationships/notesMaster" Target="/ppt/notesMasters/notesMaster1.xml" Id="R3773c824d3684b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afd146119f4bc0" /><Relationship Type="http://schemas.openxmlformats.org/officeDocument/2006/relationships/notesMaster" Target="/ppt/notesMasters/notesMaster1.xml" Id="R6dd38dab67a44b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d158eccd644478" /><Relationship Type="http://schemas.openxmlformats.org/officeDocument/2006/relationships/notesMaster" Target="/ppt/notesMasters/notesMaster1.xml" Id="R644b9285dd964db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ede37ed6144694" /><Relationship Type="http://schemas.openxmlformats.org/officeDocument/2006/relationships/notesMaster" Target="/ppt/notesMasters/notesMaster1.xml" Id="R47d821c74e4d458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a7fde84f08a40f5" /><Relationship Type="http://schemas.openxmlformats.org/officeDocument/2006/relationships/notesMaster" Target="/ppt/notesMasters/notesMaster1.xml" Id="R5bdcb893300042b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61c83e8aab44b11" /><Relationship Type="http://schemas.openxmlformats.org/officeDocument/2006/relationships/notesMaster" Target="/ppt/notesMasters/notesMaster1.xml" Id="R0048ef5f10d9478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8e908595fb44556" /><Relationship Type="http://schemas.openxmlformats.org/officeDocument/2006/relationships/notesMaster" Target="/ppt/notesMasters/notesMaster1.xml" Id="R0e098159b2f341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b27b8306334c14" /><Relationship Type="http://schemas.openxmlformats.org/officeDocument/2006/relationships/notesMaster" Target="/ppt/notesMasters/notesMaster1.xml" Id="R1e76707ed30141c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e7258135e764c26" /><Relationship Type="http://schemas.openxmlformats.org/officeDocument/2006/relationships/notesMaster" Target="/ppt/notesMasters/notesMaster1.xml" Id="R8287caecaa934f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1778415c1964107" /><Relationship Type="http://schemas.openxmlformats.org/officeDocument/2006/relationships/notesMaster" Target="/ppt/notesMasters/notesMaster1.xml" Id="R02130846745c42c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97b36c5eea74e08" /><Relationship Type="http://schemas.openxmlformats.org/officeDocument/2006/relationships/notesMaster" Target="/ppt/notesMasters/notesMaster1.xml" Id="Re1ee84dfa34f44f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9d103f78ef3492e" /><Relationship Type="http://schemas.openxmlformats.org/officeDocument/2006/relationships/notesMaster" Target="/ppt/notesMasters/notesMaster1.xml" Id="R040a5623516040a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c3be37e454c4f6b" /><Relationship Type="http://schemas.openxmlformats.org/officeDocument/2006/relationships/notesMaster" Target="/ppt/notesMasters/notesMaster1.xml" Id="Rf8273664856c433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f77b197fade45c7" /><Relationship Type="http://schemas.openxmlformats.org/officeDocument/2006/relationships/notesMaster" Target="/ppt/notesMasters/notesMaster1.xml" Id="Ra899b647aebd402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5a788d9a45344b0" /><Relationship Type="http://schemas.openxmlformats.org/officeDocument/2006/relationships/notesMaster" Target="/ppt/notesMasters/notesMaster1.xml" Id="R93be58bab86e427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a7edbf877ac4663" /><Relationship Type="http://schemas.openxmlformats.org/officeDocument/2006/relationships/notesMaster" Target="/ppt/notesMasters/notesMaster1.xml" Id="R048dae203c204a1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cc8be1f47624dba" /><Relationship Type="http://schemas.openxmlformats.org/officeDocument/2006/relationships/notesMaster" Target="/ppt/notesMasters/notesMaster1.xml" Id="Raf0eba97690c4a1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a9b1ca6e46d4beb" /><Relationship Type="http://schemas.openxmlformats.org/officeDocument/2006/relationships/notesMaster" Target="/ppt/notesMasters/notesMaster1.xml" Id="Ra7bed09e8ab346a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cae313306514455" /><Relationship Type="http://schemas.openxmlformats.org/officeDocument/2006/relationships/notesMaster" Target="/ppt/notesMasters/notesMaster1.xml" Id="Rd1d88538469c491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6a9109508334afd" /><Relationship Type="http://schemas.openxmlformats.org/officeDocument/2006/relationships/notesMaster" Target="/ppt/notesMasters/notesMaster1.xml" Id="Rd4731e86d0b44a1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b96ad923049431f" /><Relationship Type="http://schemas.openxmlformats.org/officeDocument/2006/relationships/notesMaster" Target="/ppt/notesMasters/notesMaster1.xml" Id="Reb0e6b3d096a43f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453d4f7518942d3" /><Relationship Type="http://schemas.openxmlformats.org/officeDocument/2006/relationships/notesMaster" Target="/ppt/notesMasters/notesMaster1.xml" Id="R1399d8307259446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44658fcf739449b" /><Relationship Type="http://schemas.openxmlformats.org/officeDocument/2006/relationships/notesMaster" Target="/ppt/notesMasters/notesMaster1.xml" Id="Rd82ac887b40c43e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154f68444d349ae" /><Relationship Type="http://schemas.openxmlformats.org/officeDocument/2006/relationships/notesMaster" Target="/ppt/notesMasters/notesMaster1.xml" Id="R0f0644bd0b5e462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a57c66719d847c9" /><Relationship Type="http://schemas.openxmlformats.org/officeDocument/2006/relationships/notesMaster" Target="/ppt/notesMasters/notesMaster1.xml" Id="Rc9a6f03c0034451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20daea7916847ce" /><Relationship Type="http://schemas.openxmlformats.org/officeDocument/2006/relationships/notesMaster" Target="/ppt/notesMasters/notesMaster1.xml" Id="R43c2ad4fef7e46f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7f56fdeffe74ae5" /><Relationship Type="http://schemas.openxmlformats.org/officeDocument/2006/relationships/notesMaster" Target="/ppt/notesMasters/notesMaster1.xml" Id="R77e638b928744e1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0c05bcae8ea492e" /><Relationship Type="http://schemas.openxmlformats.org/officeDocument/2006/relationships/notesMaster" Target="/ppt/notesMasters/notesMaster1.xml" Id="Rfe16a35ce072471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0f765913b0c4cca" /><Relationship Type="http://schemas.openxmlformats.org/officeDocument/2006/relationships/notesMaster" Target="/ppt/notesMasters/notesMaster1.xml" Id="R15b860761b41488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3ceddeacdf643d5" /><Relationship Type="http://schemas.openxmlformats.org/officeDocument/2006/relationships/notesMaster" Target="/ppt/notesMasters/notesMaster1.xml" Id="R43234f60e0d04c8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664597dfce8415d" /><Relationship Type="http://schemas.openxmlformats.org/officeDocument/2006/relationships/notesMaster" Target="/ppt/notesMasters/notesMaster1.xml" Id="Rdedae1cb617f45f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418d7f1cc6c4a70" /><Relationship Type="http://schemas.openxmlformats.org/officeDocument/2006/relationships/notesMaster" Target="/ppt/notesMasters/notesMaster1.xml" Id="R8cd2aefaa36348d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6bcde9ee54d449a" /><Relationship Type="http://schemas.openxmlformats.org/officeDocument/2006/relationships/notesMaster" Target="/ppt/notesMasters/notesMaster1.xml" Id="Ra1c240d7fcaf4e9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90e8d6ab69145dc" /><Relationship Type="http://schemas.openxmlformats.org/officeDocument/2006/relationships/notesMaster" Target="/ppt/notesMasters/notesMaster1.xml" Id="R8268642da3834be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bd50ba03a6b4615" /><Relationship Type="http://schemas.openxmlformats.org/officeDocument/2006/relationships/notesMaster" Target="/ppt/notesMasters/notesMaster1.xml" Id="R08a46953d4a4409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f2edfccfa0e4922" /><Relationship Type="http://schemas.openxmlformats.org/officeDocument/2006/relationships/notesMaster" Target="/ppt/notesMasters/notesMaster1.xml" Id="Rf51d147c32494a7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8f2b278c2ea427e" /><Relationship Type="http://schemas.openxmlformats.org/officeDocument/2006/relationships/notesMaster" Target="/ppt/notesMasters/notesMaster1.xml" Id="Rf33e44d80936477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f94fc6237594833" /><Relationship Type="http://schemas.openxmlformats.org/officeDocument/2006/relationships/notesMaster" Target="/ppt/notesMasters/notesMaster1.xml" Id="Ra9475a2a424145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从字符编码转入图像编码</a:t>
            </a:r>
          </a:p>
          <a:p xmlns:a="http://schemas.openxmlformats.org/drawingml/2006/main">
            <a:r>
              <a:t>[内部编号] Q0</a:t>
            </a:r>
          </a:p>
          <a:p xmlns:a="http://schemas.openxmlformats.org/drawingml/2006/main">
            <a:r>
              <a:t>[教师逐字稿] 前面我们讨论了字符怎样输入、保存和显示。今天换成照片：眼前一朵花和手机里保存的花有什么关系？先不急着回答，下一页看一张真实照片，把它不断放大。</a:t>
            </a:r>
          </a:p>
          <a:p xmlns:a="http://schemas.openxmlformats.org/drawingml/2006/main">
            <a:r>
              <a:t>[来源] PDF逐字稿00:00:00–00:00:43；Snip1。花朵为参照Snip6绘制的可编辑示意。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照片不断放大，会发生什么？</a:t>
            </a:r>
          </a:p>
          <a:p xmlns:a="http://schemas.openxmlformats.org/drawingml/2006/main">
            <a:r>
              <a:t>[内部编号] Q1—提问</a:t>
            </a:r>
          </a:p>
          <a:p xmlns:a="http://schemas.openxmlformats.org/drawingml/2006/main">
            <a:r>
              <a:t>[教学意图] 预测放大结果，观察真实软件放大截图，指出一个像素格。</a:t>
            </a:r>
          </a:p>
          <a:p xmlns:a="http://schemas.openxmlformats.org/drawingml/2006/main">
            <a:r>
              <a:t>[教师逐字稿] 先看这张花的照片。把它不断放大，你觉得会看到更多细节，还是会看到别的东西？请先说出预测。</a:t>
            </a:r>
          </a:p>
          <a:p xmlns:a="http://schemas.openxmlformats.org/drawingml/2006/main">
            <a:r>
              <a:t>[预期学生反应] 可能说“更清楚”“变模糊”“看到小方格”。接受预测，证据出现后再命名像素。</a:t>
            </a:r>
          </a:p>
          <a:p xmlns:a="http://schemas.openxmlformats.org/drawingml/2006/main">
            <a:r>
              <a:t>[追问问题] 放大是得到新的细节，还是放大已有信息？先留下问题。</a:t>
            </a:r>
          </a:p>
          <a:p xmlns:a="http://schemas.openxmlformats.org/drawingml/2006/main">
            <a:r>
              <a:t>[下一问] 看到了格子；下一步追问格子如何从眼前的花得到。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00:00:43–00:02:48；Snip 3–5；编号为重建导航，不是原课页面编号。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照片不断放大，会发生什么？</a:t>
            </a:r>
          </a:p>
          <a:p xmlns:a="http://schemas.openxmlformats.org/drawingml/2006/main">
            <a:r>
              <a:t>[内部编号] Q1—揭示</a:t>
            </a:r>
          </a:p>
          <a:p xmlns:a="http://schemas.openxmlformats.org/drawingml/2006/main">
            <a:r>
              <a:t>[教学意图] 预测放大结果，观察真实软件放大截图，指出一个像素格。</a:t>
            </a:r>
          </a:p>
          <a:p xmlns:a="http://schemas.openxmlformats.org/drawingml/2006/main">
            <a:r>
              <a:t>[教师逐字稿] 现在看实际放大的结果：先是细节看不清，继续放大可以看到一个个颜色小格。谁能指出其中一个格子？这些图像单元叫像素。注意这是一张位图，接下来我们讨论它的像素怎样从眼前的花得到。</a:t>
            </a:r>
          </a:p>
          <a:p xmlns:a="http://schemas.openxmlformats.org/drawingml/2006/main">
            <a:r>
              <a:t>[预期学生反应] 可能说“更清楚”“变模糊”“看到小方格”。接受预测，证据出现后再命名像素。</a:t>
            </a:r>
          </a:p>
          <a:p xmlns:a="http://schemas.openxmlformats.org/drawingml/2006/main">
            <a:r>
              <a:t>[追问问题] 放大是得到新的细节，还是放大已有信息？先留下问题。</a:t>
            </a:r>
          </a:p>
          <a:p xmlns:a="http://schemas.openxmlformats.org/drawingml/2006/main">
            <a:r>
              <a:t>[下一问] 看到了格子；下一步追问格子如何从眼前的花得到。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00:00:43–00:02:48；Snip 3–5；编号为重建导航，不是原课页面编号。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相机怎样“看到”一朵花？</a:t>
            </a:r>
          </a:p>
          <a:p xmlns:a="http://schemas.openxmlformats.org/drawingml/2006/main">
            <a:r>
              <a:t>[内部编号] Q2—提问</a:t>
            </a:r>
          </a:p>
          <a:p xmlns:a="http://schemas.openxmlformats.org/drawingml/2006/main">
            <a:r>
              <a:t>[教学意图] 解释光如何从花进入眼睛或相机；先提出“像素能否盲目增加”的悬问。</a:t>
            </a:r>
          </a:p>
          <a:p xmlns:a="http://schemas.openxmlformats.org/drawingml/2006/main">
            <a:r>
              <a:t>[教师逐字稿] 我们先不谈文件。为什么眼睛能看见花？光照到花以后去了哪里？相机拍照是不是也要接收光？</a:t>
            </a:r>
          </a:p>
          <a:p xmlns:a="http://schemas.openxmlformats.org/drawingml/2006/main">
            <a:r>
              <a:t>[预期学生反应] 学生可能说眼睛看到了花，也可能提出像素越高越好。把话题拉回反射光与采集。</a:t>
            </a:r>
          </a:p>
          <a:p xmlns:a="http://schemas.openxmlformats.org/drawingml/2006/main">
            <a:r>
              <a:t>[追问问题] 感光的是相机的图像传感器，镜头主要负责成像。</a:t>
            </a:r>
          </a:p>
          <a:p xmlns:a="http://schemas.openxmlformats.org/drawingml/2006/main">
            <a:r>
              <a:t>[下一问] 把传感器简化为横向3个、纵向4个位置，开始采样。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00:02:48–00:06:12；Snip 6–7；编号为重建导航，不是原课页面编号。</a:t>
            </a:r>
          </a:p>
          <a:p xmlns:a="http://schemas.openxmlformats.org/drawingml/2006/main">
            <a:r>
              <a:t>[技术注解]  感光元件位于图像传感器；本图忽略滤色阵列、去马赛克等过程。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相机怎样“看到”一朵花？</a:t>
            </a:r>
          </a:p>
          <a:p xmlns:a="http://schemas.openxmlformats.org/drawingml/2006/main">
            <a:r>
              <a:t>[内部编号] Q2—揭示</a:t>
            </a:r>
          </a:p>
          <a:p xmlns:a="http://schemas.openxmlformats.org/drawingml/2006/main">
            <a:r>
              <a:t>[教学意图] 解释光如何从花进入眼睛或相机；先提出“像素能否盲目增加”的悬问。</a:t>
            </a:r>
          </a:p>
          <a:p xmlns:a="http://schemas.openxmlformats.org/drawingml/2006/main">
            <a:r>
              <a:t>[教师逐字稿] 看左边这朵红花。我们看到它，是因为花反射的光进入眼睛；相机也要接收这些光。光经过镜头成像，由图像传感器感光。今天把复杂的相机简化成12个采样位置，每个位置只记录局部信息。先留下一个问题：位置越多就一定越好吗？等算存储量时再回答。</a:t>
            </a:r>
          </a:p>
          <a:p xmlns:a="http://schemas.openxmlformats.org/drawingml/2006/main">
            <a:r>
              <a:t>[预期学生反应] 学生可能说眼睛看到了花，也可能提出像素越高越好。把话题拉回反射光与采集。</a:t>
            </a:r>
          </a:p>
          <a:p xmlns:a="http://schemas.openxmlformats.org/drawingml/2006/main">
            <a:r>
              <a:t>[追问问题] 感光的是相机的图像传感器，镜头主要负责成像。</a:t>
            </a:r>
          </a:p>
          <a:p xmlns:a="http://schemas.openxmlformats.org/drawingml/2006/main">
            <a:r>
              <a:t>[下一问] 把传感器简化为横向3个、纵向4个位置，开始采样。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00:02:48–00:06:12；Snip 6–7；编号为重建导航，不是原课页面编号。</a:t>
            </a:r>
          </a:p>
          <a:p xmlns:a="http://schemas.openxmlformats.org/drawingml/2006/main">
            <a:r>
              <a:t>[技术注解]  感光元件位于图像传感器；本图忽略滤色阵列、去马赛克等过程。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3×4，而不只写 12？</a:t>
            </a:r>
          </a:p>
          <a:p xmlns:a="http://schemas.openxmlformats.org/drawingml/2006/main">
            <a:r>
              <a:t>[内部编号] Q3—提问</a:t>
            </a:r>
          </a:p>
          <a:p xmlns:a="http://schemas.openxmlformats.org/drawingml/2006/main">
            <a:r>
              <a:t>[教学意图] 数位置并比较“12”与“3×4”的信息差别。</a:t>
            </a:r>
          </a:p>
          <a:p xmlns:a="http://schemas.openxmlformats.org/drawingml/2006/main">
            <a:r>
              <a:t>[教师逐字稿] 先数一数：总共有多少个采样位置？如果只写 12，能不能知道横向和纵向分别有几个？</a:t>
            </a:r>
          </a:p>
          <a:p xmlns:a="http://schemas.openxmlformats.org/drawingml/2006/main">
            <a:r>
              <a:t>[预期学生反应] 12是总数量，3×4还能说明横向和纵向排列。</a:t>
            </a:r>
          </a:p>
          <a:p xmlns:a="http://schemas.openxmlformats.org/drawingml/2006/main">
            <a:r>
              <a:t>[追问问题] 2×6和3×4总数相同，形状相同吗？</a:t>
            </a:r>
          </a:p>
          <a:p xmlns:a="http://schemas.openxmlformats.org/drawingml/2006/main">
            <a:r>
              <a:t>[下一问] 位置确定了，还要决定每个位置用什么数记录。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00:06:12–00:06:45；Snip 7–8；编号为重建导航，不是原课页面编号。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3×4，而不只写 12？</a:t>
            </a:r>
          </a:p>
          <a:p xmlns:a="http://schemas.openxmlformats.org/drawingml/2006/main">
            <a:r>
              <a:t>[内部编号] Q3—揭示</a:t>
            </a:r>
          </a:p>
          <a:p xmlns:a="http://schemas.openxmlformats.org/drawingml/2006/main">
            <a:r>
              <a:t>[教学意图] 数位置并比较“12”与“3×4”的信息差别。</a:t>
            </a:r>
          </a:p>
          <a:p xmlns:a="http://schemas.openxmlformats.org/drawingml/2006/main">
            <a:r>
              <a:t>[教师逐字稿] 总数是 12，但记录图像的空间排列时要写 3×4。这一步采集样本叫采样；横向像素数乘纵向像素数表示分辨率。</a:t>
            </a:r>
          </a:p>
          <a:p xmlns:a="http://schemas.openxmlformats.org/drawingml/2006/main">
            <a:r>
              <a:t>[预期学生反应] 12是总数量，3×4还能说明横向和纵向排列。</a:t>
            </a:r>
          </a:p>
          <a:p xmlns:a="http://schemas.openxmlformats.org/drawingml/2006/main">
            <a:r>
              <a:t>[追问问题] 2×6和3×4总数相同，形状相同吗？</a:t>
            </a:r>
          </a:p>
          <a:p xmlns:a="http://schemas.openxmlformats.org/drawingml/2006/main">
            <a:r>
              <a:t>[下一问] 位置确定了，还要决定每个位置用什么数记录。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00:06:12–00:06:45；Snip 7–8；编号为重建导航，不是原课页面编号。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采样后，每个格子的颜色怎样记录？</a:t>
            </a:r>
          </a:p>
          <a:p xmlns:a="http://schemas.openxmlformats.org/drawingml/2006/main">
            <a:r>
              <a:t>[内部编号] Q4—提问</a:t>
            </a:r>
          </a:p>
          <a:p xmlns:a="http://schemas.openxmlformats.org/drawingml/2006/main">
            <a:r>
              <a:t>[教学意图] 看红花和四彩图，说明近似；读颜色编号与数字矩阵。</a:t>
            </a:r>
          </a:p>
          <a:p xmlns:a="http://schemas.openxmlformats.org/drawingml/2006/main">
            <a:r>
              <a:t>[教师逐字稿] 网格已经划好，但格子里还没有可保存的值。四种颜色怎样变成计算机下一步能处理的数？</a:t>
            </a:r>
          </a:p>
          <a:p xmlns:a="http://schemas.openxmlformats.org/drawingml/2006/main">
            <a:r>
              <a:t>[预期学生反应] 用颜色名、编号；也可能想保留格子内所有细节。强调本轮每格只留一个代表色。</a:t>
            </a:r>
          </a:p>
          <a:p xmlns:a="http://schemas.openxmlformats.org/drawingml/2006/main">
            <a:r>
              <a:t>[追问问题] 这一格同时有两种颜色时，我们是否保留了全部信息？</a:t>
            </a:r>
          </a:p>
          <a:p xmlns:a="http://schemas.openxmlformats.org/drawingml/2006/main">
            <a:r>
              <a:t>[下一问] 编号还要转换成二进制，才能讨论每格需要多少位。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00:06:45–00:09:00；Snip 8–9；编号为重建导航，不是原课页面编号。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采样后，每个格子的颜色怎样记录？</a:t>
            </a:r>
          </a:p>
          <a:p xmlns:a="http://schemas.openxmlformats.org/drawingml/2006/main">
            <a:r>
              <a:t>[内部编号] Q4—揭示</a:t>
            </a:r>
          </a:p>
          <a:p xmlns:a="http://schemas.openxmlformats.org/drawingml/2006/main">
            <a:r>
              <a:t>[教学意图] 看红花和四彩图，说明近似；读颜色编号与数字矩阵。</a:t>
            </a:r>
          </a:p>
          <a:p xmlns:a="http://schemas.openxmlformats.org/drawingml/2006/main">
            <a:r>
              <a:t>[教师逐字稿] 看中间的方格花：同一个格子里原本可能有多种颜色，这里只用一种代表色近似，所以细节会丢失。再给四种颜色约定编号：白0、红1、黄2、绿3。右边每个位置就能用有限的数值记录。这个把采样结果映射到有限等级的过程叫量化。颜色编号是本实验的表示办法，不是相机内部通用的调色板。</a:t>
            </a:r>
          </a:p>
          <a:p xmlns:a="http://schemas.openxmlformats.org/drawingml/2006/main">
            <a:r>
              <a:t>[预期学生反应] 用颜色名、编号；也可能想保留格子内所有细节。强调本轮每格只留一个代表色。</a:t>
            </a:r>
          </a:p>
          <a:p xmlns:a="http://schemas.openxmlformats.org/drawingml/2006/main">
            <a:r>
              <a:t>[追问问题] 这一格同时有两种颜色时，我们是否保留了全部信息？</a:t>
            </a:r>
          </a:p>
          <a:p xmlns:a="http://schemas.openxmlformats.org/drawingml/2006/main">
            <a:r>
              <a:t>[下一问] 编号还要转换成二进制，才能讨论每格需要多少位。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00:06:45–00:09:00；Snip 8–9；编号为重建导航，不是原课页面编号。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四种颜色需要几个 bit？</a:t>
            </a:r>
          </a:p>
          <a:p xmlns:a="http://schemas.openxmlformats.org/drawingml/2006/main">
            <a:r>
              <a:t>[内部编号] Q5—提问</a:t>
            </a:r>
          </a:p>
          <a:p xmlns:a="http://schemas.openxmlformats.org/drawingml/2006/main">
            <a:r>
              <a:t>[教学意图] 判断最少位数，再口头给白、红、黄、绿编码。</a:t>
            </a:r>
          </a:p>
          <a:p xmlns:a="http://schemas.openxmlformats.org/drawingml/2006/main">
            <a:r>
              <a:t>[教师逐字稿] 有人会按 12 个格子想，也有人会按 4 种颜色想。现在给单个格子的颜色编码，到底需要区分多少种状态？至少几位？</a:t>
            </a:r>
          </a:p>
          <a:p xmlns:a="http://schemas.openxmlformats.org/drawingml/2006/main">
            <a:r>
              <a:t>[预期学生反应] 原课出现3位、4位，甚至把12个格子当作状态数。也有学生答2位，并给出00/01/10/11的四色映射。</a:t>
            </a:r>
          </a:p>
          <a:p xmlns:a="http://schemas.openxmlformats.org/drawingml/2006/main">
            <a:r>
              <a:t>[追问问题] 现在给一个像素的颜色编码，要区分12个位置，还是4种颜色？</a:t>
            </a:r>
          </a:p>
          <a:p xmlns:a="http://schemas.openxmlformats.org/drawingml/2006/main">
            <a:r>
              <a:t>[下一问] 有了颜色码表，再由教师逐格替换，命名编码和位深度。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00:09:00–00:13:35；Snip 9–10；编号为重建导航，不是原课页面编号。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四种颜色需要几个 bit？</a:t>
            </a:r>
          </a:p>
          <a:p xmlns:a="http://schemas.openxmlformats.org/drawingml/2006/main">
            <a:r>
              <a:t>[内部编号] Q5—揭示</a:t>
            </a:r>
          </a:p>
          <a:p xmlns:a="http://schemas.openxmlformats.org/drawingml/2006/main">
            <a:r>
              <a:t>[教学意图] 判断最少位数，再口头给白、红、黄、绿编码。</a:t>
            </a:r>
          </a:p>
          <a:p xmlns:a="http://schemas.openxmlformats.org/drawingml/2006/main">
            <a:r>
              <a:t>[教师逐字稿] 先看一个像素要区分的状态：是四种颜色，不是整幅图的十二个位置。1bit只有0和1两种状态，不够；2bit有00、01、10、11，刚好够。现在请按白、红、黄、绿的顺序给它们编码。我们采用白00、红01、黄10、绿11；只要约定一致，也能采用其他对应关系。</a:t>
            </a:r>
          </a:p>
          <a:p xmlns:a="http://schemas.openxmlformats.org/drawingml/2006/main">
            <a:r>
              <a:t>[预期学生反应] 原课出现3位、4位，甚至把12个格子当作状态数。也有学生答2位，并给出00/01/10/11的四色映射。</a:t>
            </a:r>
          </a:p>
          <a:p xmlns:a="http://schemas.openxmlformats.org/drawingml/2006/main">
            <a:r>
              <a:t>[追问问题] 现在给一个像素的颜色编码，要区分12个位置，还是4种颜色？</a:t>
            </a:r>
          </a:p>
          <a:p xmlns:a="http://schemas.openxmlformats.org/drawingml/2006/main">
            <a:r>
              <a:t>[下一问] 有了颜色码表，再由教师逐格替换，命名编码和位深度。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00:09:00–00:13:35；Snip 9–10；编号为重建导航，不是原课页面编号。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Q6—提问</a:t>
            </a:r>
          </a:p>
          <a:p xmlns:a="http://schemas.openxmlformats.org/drawingml/2006/main">
            <a:r>
              <a:t>[教学意图] 跟随教师将0/1/2/3替换成00/01/10/11，回顾三步骤。</a:t>
            </a:r>
          </a:p>
          <a:p xmlns:a="http://schemas.openxmlformats.org/drawingml/2006/main">
            <a:r>
              <a:t>[教师逐字稿] 前一步得到 0、1、2、3。计算机中怎样表示它们？这一步和前面的采样、量化是什么关系？</a:t>
            </a:r>
          </a:p>
          <a:p xmlns:a="http://schemas.openxmlformats.org/drawingml/2006/main">
            <a:r>
              <a:t>[预期学生反应] 学生可说编码，但可能把整图24bit当成位深度。</a:t>
            </a:r>
          </a:p>
          <a:p xmlns:a="http://schemas.openxmlformats.org/drawingml/2006/main">
            <a:r>
              <a:t>[追问问题] 位深度描述一个像素，还是整幅图？</a:t>
            </a:r>
          </a:p>
          <a:p xmlns:a="http://schemas.openxmlformats.org/drawingml/2006/main">
            <a:r>
              <a:t>[下一问] 图像能保存了，但粗糙的花形制造新的问题。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00:13:35–00:14:46；Snip 10；编号为重建导航，不是原课页面编号。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Q6—揭示</a:t>
            </a:r>
          </a:p>
          <a:p xmlns:a="http://schemas.openxmlformats.org/drawingml/2006/main">
            <a:r>
              <a:t>[教学意图] 跟随教师将0/1/2/3替换成00/01/10/11，回顾三步骤。</a:t>
            </a:r>
          </a:p>
          <a:p xmlns:a="http://schemas.openxmlformats.org/drawingml/2006/main">
            <a:r>
              <a:t>[教师逐字稿] 我来把每一个颜色编号替换为刚才的二进制码。注意每个格子都写满两位，0写成00，1写成01。现在这幅图已经能表示成二进制数据。将量化值变成码字叫编码；每个像素颜色用2bit描述，所以位深度是2，而不是全图的24bit。回头看：先采样，再量化，最后编码。</a:t>
            </a:r>
          </a:p>
          <a:p xmlns:a="http://schemas.openxmlformats.org/drawingml/2006/main">
            <a:r>
              <a:t>[预期学生反应] 学生可说编码，但可能把整图24bit当成位深度。</a:t>
            </a:r>
          </a:p>
          <a:p xmlns:a="http://schemas.openxmlformats.org/drawingml/2006/main">
            <a:r>
              <a:t>[追问问题] 位深度描述一个像素，还是整幅图？</a:t>
            </a:r>
          </a:p>
          <a:p xmlns:a="http://schemas.openxmlformats.org/drawingml/2006/main">
            <a:r>
              <a:t>[下一问] 图像能保存了，但粗糙的花形制造新的问题。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00:13:35–00:14:46；Snip 10；编号为重建导航，不是原课页面编号。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Q6—evidence</a:t>
            </a:r>
          </a:p>
          <a:p xmlns:a="http://schemas.openxmlformats.org/drawingml/2006/main">
            <a:r>
              <a:t>[教学意图] 跟随教师将0/1/2/3替换成00/01/10/11，回顾三步骤。</a:t>
            </a:r>
          </a:p>
          <a:p xmlns:a="http://schemas.openxmlformats.org/drawingml/2006/main">
            <a:r>
              <a:t>[教师逐字稿] 先指红花的网格，再指颜色编号，最后指二进制。三个动作分别是采样、量化、编码。原课由教师完成整幅矩阵替换，学生看对应关系；不把这一段说成学生独立编完了全图。</a:t>
            </a:r>
          </a:p>
          <a:p xmlns:a="http://schemas.openxmlformats.org/drawingml/2006/main">
            <a:r>
              <a:t>[预期学生反应] 学生可说编码，但可能把整图24bit当成位深度。</a:t>
            </a:r>
          </a:p>
          <a:p xmlns:a="http://schemas.openxmlformats.org/drawingml/2006/main">
            <a:r>
              <a:t>[追问问题] 位深度描述一个像素，还是整幅图？</a:t>
            </a:r>
          </a:p>
          <a:p xmlns:a="http://schemas.openxmlformats.org/drawingml/2006/main">
            <a:r>
              <a:t>[下一问] 图像能保存了，但粗糙的花形制造新的问题。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00:13:35–00:14:46；Snip 10；编号为重建导航，不是原课页面编号。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怎样让数字花更接近原图？</a:t>
            </a:r>
          </a:p>
          <a:p xmlns:a="http://schemas.openxmlformats.org/drawingml/2006/main">
            <a:r>
              <a:t>[内部编号] Q7—提问</a:t>
            </a:r>
          </a:p>
          <a:p xmlns:a="http://schemas.openxmlformats.org/drawingml/2006/main">
            <a:r>
              <a:t>[教学意图] 比较3×4与6×8，保持颜色数不变；读6×8第四行的编码。</a:t>
            </a:r>
          </a:p>
          <a:p xmlns:a="http://schemas.openxmlformats.org/drawingml/2006/main">
            <a:r>
              <a:t>[教师逐字稿] 3×4 的花还能认出来，但边缘很粗。先说办法。若有人提出增加颜色，先记下；这轮只改变采样点数量。</a:t>
            </a:r>
          </a:p>
          <a:p xmlns:a="http://schemas.openxmlformats.org/drawingml/2006/main">
            <a:r>
              <a:t>[预期学生反应] 增加格子、提高分辨率；位深度不变，因为仍有4种颜色。</a:t>
            </a:r>
          </a:p>
          <a:p xmlns:a="http://schemas.openxmlformats.org/drawingml/2006/main">
            <a:r>
              <a:t>[追问问题] 第四行先辨颜色，再用码表读出二进制；不要把颜色编号直接当成二进制。</a:t>
            </a:r>
          </a:p>
          <a:p xmlns:a="http://schemas.openxmlformats.org/drawingml/2006/main">
            <a:r>
              <a:t>[下一问] 点阵图引出位图概念，再探索另一条改进途径。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00:14:46–00:17:43；Snip 11 缩略图；编号为重建导航，不是原课页面编号。</a:t>
            </a:r>
          </a:p>
          <a:p xmlns:a="http://schemas.openxmlformats.org/drawingml/2006/main">
            <a:r>
              <a:t>[技术注解] 增加真实空间采样通常保留更多细节；插值放大不会凭空恢复原始信息。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怎样让数字花更接近原图？</a:t>
            </a:r>
          </a:p>
          <a:p xmlns:a="http://schemas.openxmlformats.org/drawingml/2006/main">
            <a:r>
              <a:t>[内部编号] Q7—揭示</a:t>
            </a:r>
          </a:p>
          <a:p xmlns:a="http://schemas.openxmlformats.org/drawingml/2006/main">
            <a:r>
              <a:t>[教学意图] 比较3×4与6×8，保持颜色数不变；读6×8第四行的编码。</a:t>
            </a:r>
          </a:p>
          <a:p xmlns:a="http://schemas.openxmlformats.org/drawingml/2006/main">
            <a:r>
              <a:t>[教师逐字稿] 左边3×4，右边6×8，两幅图显示在相近的区域。新图的采样位置更多，每格更小，花形可以表示得更细。我们只改变采样密度，四种颜色没有改变，所以每格仍然需要2bit。这里表示重新采集同一对象；把拍好的旧图直接放大，并不会自动得到新的真实细节。</a:t>
            </a:r>
          </a:p>
          <a:p xmlns:a="http://schemas.openxmlformats.org/drawingml/2006/main">
            <a:r>
              <a:t>[预期学生反应] 增加格子、提高分辨率；位深度不变，因为仍有4种颜色。</a:t>
            </a:r>
          </a:p>
          <a:p xmlns:a="http://schemas.openxmlformats.org/drawingml/2006/main">
            <a:r>
              <a:t>[追问问题] 第四行先辨颜色，再用码表读出二进制；不要把颜色编号直接当成二进制。</a:t>
            </a:r>
          </a:p>
          <a:p xmlns:a="http://schemas.openxmlformats.org/drawingml/2006/main">
            <a:r>
              <a:t>[下一问] 点阵图引出位图概念，再探索另一条改进途径。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00:14:46–00:17:43；Snip 11 缩略图；编号为重建导航，不是原课页面编号。</a:t>
            </a:r>
          </a:p>
          <a:p xmlns:a="http://schemas.openxmlformats.org/drawingml/2006/main">
            <a:r>
              <a:t>[技术注解] 增加真实空间采样通常保留更多细节；插值放大不会凭空恢复原始信息。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第四行，怎样写成二进制？</a:t>
            </a:r>
          </a:p>
          <a:p xmlns:a="http://schemas.openxmlformats.org/drawingml/2006/main">
            <a:r>
              <a:t>[内部编号] Q7—提问</a:t>
            </a:r>
          </a:p>
          <a:p xmlns:a="http://schemas.openxmlformats.org/drawingml/2006/main">
            <a:r>
              <a:t>[教学意图] 比较3×4与6×8，保持颜色数不变；读6×8第四行的编码。</a:t>
            </a:r>
          </a:p>
          <a:p xmlns:a="http://schemas.openxmlformats.org/drawingml/2006/main">
            <a:r>
              <a:t>[教师逐字稿] 从上往下数到第四行。先说六个格子的颜色，再按码表从左到右读出二进制。注意这次要读的是码字，不是颜色的编号。</a:t>
            </a:r>
          </a:p>
          <a:p xmlns:a="http://schemas.openxmlformats.org/drawingml/2006/main">
            <a:r>
              <a:t>[预期学生反应] 增加格子、提高分辨率；位深度不变，因为仍有4种颜色。</a:t>
            </a:r>
          </a:p>
          <a:p xmlns:a="http://schemas.openxmlformats.org/drawingml/2006/main">
            <a:r>
              <a:t>[追问问题] 第四行先辨颜色，再用码表读出二进制；不要把颜色编号直接当成二进制。</a:t>
            </a:r>
          </a:p>
          <a:p xmlns:a="http://schemas.openxmlformats.org/drawingml/2006/main">
            <a:r>
              <a:t>[下一问] 点阵图引出位图概念，再探索另一条改进途径。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00:14:46–00:17:43；Snip 11 缩略图；编号为重建导航，不是原课页面编号。</a:t>
            </a:r>
          </a:p>
          <a:p xmlns:a="http://schemas.openxmlformats.org/drawingml/2006/main">
            <a:r>
              <a:t>[技术注解] 增加真实空间采样通常保留更多细节；插值放大不会凭空恢复原始信息。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第四行，怎样写成二进制？</a:t>
            </a:r>
          </a:p>
          <a:p xmlns:a="http://schemas.openxmlformats.org/drawingml/2006/main">
            <a:r>
              <a:t>[内部编号] Q7—揭示</a:t>
            </a:r>
          </a:p>
          <a:p xmlns:a="http://schemas.openxmlformats.org/drawingml/2006/main">
            <a:r>
              <a:t>[教学意图] 比较3×4与6×8，保持颜色数不变；读6×8第四行的编码。</a:t>
            </a:r>
          </a:p>
          <a:p xmlns:a="http://schemas.openxmlformats.org/drawingml/2006/main">
            <a:r>
              <a:t>[教师逐字稿] 这一行先是两个红色，再两个黄色，最后两个红色。红色01，黄色10，所以整行是01、01、10、10、01、01，共12bit。这次学生只读一行；其他各行按同一规则处理。</a:t>
            </a:r>
          </a:p>
          <a:p xmlns:a="http://schemas.openxmlformats.org/drawingml/2006/main">
            <a:r>
              <a:t>[预期学生反应] 增加格子、提高分辨率；位深度不变，因为仍有4种颜色。</a:t>
            </a:r>
          </a:p>
          <a:p xmlns:a="http://schemas.openxmlformats.org/drawingml/2006/main">
            <a:r>
              <a:t>[追问问题] 第四行先辨颜色，再用码表读出二进制；不要把颜色编号直接当成二进制。</a:t>
            </a:r>
          </a:p>
          <a:p xmlns:a="http://schemas.openxmlformats.org/drawingml/2006/main">
            <a:r>
              <a:t>[下一问] 点阵图引出位图概念，再探索另一条改进途径。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00:14:46–00:17:43；Snip 11 缩略图；编号为重建导航，不是原课页面编号。</a:t>
            </a:r>
          </a:p>
          <a:p xmlns:a="http://schemas.openxmlformats.org/drawingml/2006/main">
            <a:r>
              <a:t>[技术注解] 增加真实空间采样通常保留更多细节；插值放大不会凭空恢复原始信息。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Q8—提问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刚才的花由格子组成。若继续放大它，边缘会怎样？再想另一种能持续保持清晰边缘的图。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回到6×8花朵，保持位置不变再改变颜色。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00:17:43–00:18:51；逐字稿；编号为重建导航，不是原课页面编号。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Q8—揭示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左边用像素点阵表示边缘，放大后格子也被放大；右边保留的是可重新绘制的图形描述，可以按新的显示尺寸绘出边界。我们接下来继续讨论位图的数据。矢量图最终在屏幕上显示时也会被栅格化，并不是屏幕没有像素。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回到6×8花朵，保持位置不变再改变颜色。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00:17:43–00:18:51；逐字稿；编号为重建导航，不是原课页面编号。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分辨率不变，还能怎样改进颜色？</a:t>
            </a:r>
          </a:p>
          <a:p xmlns:a="http://schemas.openxmlformats.org/drawingml/2006/main">
            <a:r>
              <a:t>[内部编号] Q9—提问</a:t>
            </a:r>
          </a:p>
          <a:p xmlns:a="http://schemas.openxmlformats.org/drawingml/2006/main">
            <a:r>
              <a:t>[教学意图] 比较四/六色；判断最少3bit。六色逐格编码由教师说明，不要求学生复原照片。</a:t>
            </a:r>
          </a:p>
          <a:p xmlns:a="http://schemas.openxmlformats.org/drawingml/2006/main">
            <a:r>
              <a:t>[教师逐字稿] 这轮不能再改格子数量。四种颜色还是有些粗糙，接下来改什么？若要表示六种颜色，两位还够吗？</a:t>
            </a:r>
          </a:p>
          <a:p xmlns:a="http://schemas.openxmlformats.org/drawingml/2006/main">
            <a:r>
              <a:t>[预期学生反应] 增加颜色；6种状态需3bit，而不是6bit。</a:t>
            </a:r>
          </a:p>
          <a:p xmlns:a="http://schemas.openxmlformats.org/drawingml/2006/main">
            <a:r>
              <a:t>[追问问题] 2bit可区分几种？3bit有8个码字，为什么6种也够？</a:t>
            </a:r>
          </a:p>
          <a:p xmlns:a="http://schemas.openxmlformats.org/drawingml/2006/main">
            <a:r>
              <a:t>[下一问] 三轮实验结束，用学案空格把改变的变量和结果分清。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00:18:51–00:20:37；Snip 11 缩略图；编号为重建导航，不是原课页面编号。</a:t>
            </a:r>
          </a:p>
          <a:p xmlns:a="http://schemas.openxmlformats.org/drawingml/2006/main">
            <a:r>
              <a:t>[技术注解] 更多颜色只在同一量化任务、其他条件相近时通常减小颜色近似误差。 六色网格是教学示意重建，不能当作原课逐格精确矩阵；不据此考查编码。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分辨率不变，还能怎样改进颜色？</a:t>
            </a:r>
          </a:p>
          <a:p xmlns:a="http://schemas.openxmlformats.org/drawingml/2006/main">
            <a:r>
              <a:t>[内部编号] Q9—揭示</a:t>
            </a:r>
          </a:p>
          <a:p xmlns:a="http://schemas.openxmlformats.org/drawingml/2006/main">
            <a:r>
              <a:t>[教学意图] 比较四/六色；判断最少3bit。六色逐格编码由教师说明，不要求学生复原照片。</a:t>
            </a:r>
          </a:p>
          <a:p xmlns:a="http://schemas.openxmlformats.org/drawingml/2006/main">
            <a:r>
              <a:t>[教师逐字稿] 格子的位置没有改变，两幅图都是6×8。右边可以用更多颜色等级表示花瓣和花心，量化时有更多选择。先把“形状更细”与“颜色更丰富”分开。接下来判断：六种颜色，原来的2bit够不够？不要把颜色数直接当成位深度。</a:t>
            </a:r>
          </a:p>
          <a:p xmlns:a="http://schemas.openxmlformats.org/drawingml/2006/main">
            <a:r>
              <a:t>[预期学生反应] 增加颜色；6种状态需3bit，而不是6bit。</a:t>
            </a:r>
          </a:p>
          <a:p xmlns:a="http://schemas.openxmlformats.org/drawingml/2006/main">
            <a:r>
              <a:t>[追问问题] 2bit可区分几种？3bit有8个码字，为什么6种也够？</a:t>
            </a:r>
          </a:p>
          <a:p xmlns:a="http://schemas.openxmlformats.org/drawingml/2006/main">
            <a:r>
              <a:t>[下一问] 三轮实验结束，用学案空格把改变的变量和结果分清。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00:18:51–00:20:37；Snip 11 缩略图；编号为重建导航，不是原课页面编号。</a:t>
            </a:r>
          </a:p>
          <a:p xmlns:a="http://schemas.openxmlformats.org/drawingml/2006/main">
            <a:r>
              <a:t>[技术注解] 更多颜色只在同一量化任务、其他条件相近时通常减小颜色近似误差。 六色网格是教学示意重建，不能当作原课逐格精确矩阵；不据此考查编码。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Q9—提问</a:t>
            </a:r>
          </a:p>
          <a:p xmlns:a="http://schemas.openxmlformats.org/drawingml/2006/main">
            <a:r>
              <a:t>[教学意图] 比较四/六色；判断最少3bit。六色逐格编码由教师说明，不要求学生复原照片。</a:t>
            </a:r>
          </a:p>
          <a:p xmlns:a="http://schemas.openxmlformats.org/drawingml/2006/main">
            <a:r>
              <a:t>[教师逐字稿] 现在不看花有多少个格子，只看一个格子有六种可能。先试两位，再试三位，哪一个最少而且够用？</a:t>
            </a:r>
          </a:p>
          <a:p xmlns:a="http://schemas.openxmlformats.org/drawingml/2006/main">
            <a:r>
              <a:t>[预期学生反应] 增加颜色；6种状态需3bit，而不是6bit。</a:t>
            </a:r>
          </a:p>
          <a:p xmlns:a="http://schemas.openxmlformats.org/drawingml/2006/main">
            <a:r>
              <a:t>[追问问题] 2bit可区分几种？3bit有8个码字，为什么6种也够？</a:t>
            </a:r>
          </a:p>
          <a:p xmlns:a="http://schemas.openxmlformats.org/drawingml/2006/main">
            <a:r>
              <a:t>[下一问] 三轮实验结束，用学案空格把改变的变量和结果分清。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00:18:51–00:20:37；Snip 11 缩略图；编号为重建导航，不是原课页面编号。</a:t>
            </a:r>
          </a:p>
          <a:p xmlns:a="http://schemas.openxmlformats.org/drawingml/2006/main">
            <a:r>
              <a:t>[技术注解] 更多颜色只在同一量化任务、其他条件相近时通常减小颜色近似误差。 六色网格是教学示意重建，不能当作原课逐格精确矩阵；不据此考查编码。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Q9—揭示</a:t>
            </a:r>
          </a:p>
          <a:p xmlns:a="http://schemas.openxmlformats.org/drawingml/2006/main">
            <a:r>
              <a:t>[教学意图] 比较四/六色；判断最少3bit。六色逐格编码由教师说明，不要求学生复原照片。</a:t>
            </a:r>
          </a:p>
          <a:p xmlns:a="http://schemas.openxmlformats.org/drawingml/2006/main">
            <a:r>
              <a:t>[教师逐字稿] 2的2次方是4，小于6，不够；2的3次方是8，大于等于6，够用。最少3bit，可以选用其中6个码字，另外2个不用。这里不要说所有8个码字都必须出现在图像里。</a:t>
            </a:r>
          </a:p>
          <a:p xmlns:a="http://schemas.openxmlformats.org/drawingml/2006/main">
            <a:r>
              <a:t>[预期学生反应] 增加颜色；6种状态需3bit，而不是6bit。</a:t>
            </a:r>
          </a:p>
          <a:p xmlns:a="http://schemas.openxmlformats.org/drawingml/2006/main">
            <a:r>
              <a:t>[追问问题] 2bit可区分几种？3bit有8个码字，为什么6种也够？</a:t>
            </a:r>
          </a:p>
          <a:p xmlns:a="http://schemas.openxmlformats.org/drawingml/2006/main">
            <a:r>
              <a:t>[下一问] 三轮实验结束，用学案空格把改变的变量和结果分清。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00:18:51–00:20:37；Snip 11 缩略图；编号为重建导航，不是原课页面编号。</a:t>
            </a:r>
          </a:p>
          <a:p xmlns:a="http://schemas.openxmlformats.org/drawingml/2006/main">
            <a:r>
              <a:t>[技术注解] 更多颜色只在同一量化任务、其他条件相近时通常减小颜色近似误差。 六色网格是教学示意重建，不能当作原课逐格精确矩阵；不据此考查编码。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三轮花朵实验说明了什么？</a:t>
            </a:r>
          </a:p>
          <a:p xmlns:a="http://schemas.openxmlformats.org/drawingml/2006/main">
            <a:r>
              <a:t>[内部编号] Q10—提问</a:t>
            </a:r>
          </a:p>
          <a:p xmlns:a="http://schemas.openxmlformats.org/drawingml/2006/main">
            <a:r>
              <a:t>[教学意图] 在纸上填写投影空格，逐项口头核对。</a:t>
            </a:r>
          </a:p>
          <a:p xmlns:a="http://schemas.openxmlformats.org/drawingml/2006/main">
            <a:r>
              <a:t>[教师逐字稿] 先看三幅花。第一轮建立什么模型？第二轮改了什么？第三轮又改了什么？请先完成学案空格。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00:20:37–00:22:29；Snip 11、13；编号为重建导航，不是原课页面编号。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三轮花朵实验说明了什么？</a:t>
            </a:r>
          </a:p>
          <a:p xmlns:a="http://schemas.openxmlformats.org/drawingml/2006/main">
            <a:r>
              <a:t>[内部编号] Q10—揭示</a:t>
            </a:r>
          </a:p>
          <a:p xmlns:a="http://schemas.openxmlformats.org/drawingml/2006/main">
            <a:r>
              <a:t>[教学意图] 在纸上填写投影空格，逐项口头核对。</a:t>
            </a:r>
          </a:p>
          <a:p xmlns:a="http://schemas.openxmlformats.org/drawingml/2006/main">
            <a:r>
              <a:t>[教师逐字稿] 第一轮建立了采样、量化、编码的流程。第二轮保持颜色数不变，提高采样分辨率，让形状表达更细；第三轮保持位置不变，增加可用颜色。请对照你填的词逐项核对。我们比较的是同一对象、相同显示大小；不把“像素多”当成任何照片都更清晰的保证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00:20:37–00:22:29；Snip 11、13；编号为重建导航，不是原课页面编号。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Q10—提问</a:t>
            </a:r>
          </a:p>
          <a:p xmlns:a="http://schemas.openxmlformats.org/drawingml/2006/main">
            <a:r>
              <a:t>[教学意图] 在纸上填写投影空格，逐项口头核对。</a:t>
            </a:r>
          </a:p>
          <a:p xmlns:a="http://schemas.openxmlformats.org/drawingml/2006/main">
            <a:r>
              <a:t>[教师逐字稿] 继续填写：六种颜色比四种需要更多bit。现在把例子推广，n个bit最多有多少种不同码字？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00:20:37–00:22:29；Snip 11、13；编号为重建导航，不是原课页面编号。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Q10—揭示</a:t>
            </a:r>
          </a:p>
          <a:p xmlns:a="http://schemas.openxmlformats.org/drawingml/2006/main">
            <a:r>
              <a:t>[教学意图] 在纸上填写投影空格，逐项口头核对。</a:t>
            </a:r>
          </a:p>
          <a:p xmlns:a="http://schemas.openxmlformats.org/drawingml/2006/main">
            <a:r>
              <a:t>[教师逐字稿] 位深度n最多表示2的n次方种颜色。想容纳更多颜色时，要看原来的位数是否已不够；只有超过原容量才必须增加位数。本实验从4到6种颜色，位深度从2到3。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00:20:37–00:22:29；Snip 11、13；编号为重建导航，不是原课页面编号。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同一场景，照片大小为什么不同？</a:t>
            </a:r>
          </a:p>
          <a:p xmlns:a="http://schemas.openxmlformats.org/drawingml/2006/main">
            <a:r>
              <a:t>[内部编号] Q11—提问</a:t>
            </a:r>
          </a:p>
          <a:p xmlns:a="http://schemas.openxmlformats.org/drawingml/2006/main">
            <a:r>
              <a:t>[教学意图] 依次列出三组乘法，不急于背公式，再归纳总bit。</a:t>
            </a:r>
          </a:p>
          <a:p xmlns:a="http://schemas.openxmlformats.org/drawingml/2006/main">
            <a:r>
              <a:t>[教师逐字稿] 三幅图来自同一个思想实验。每个格子要占几位？格子总数又有多少？先算三幅图各需多少 bit。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00:22:29–00:25:14；Snip 14–15；编号为重建导航，不是原课页面编号。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同一场景，照片大小为什么不同？</a:t>
            </a:r>
          </a:p>
          <a:p xmlns:a="http://schemas.openxmlformats.org/drawingml/2006/main">
            <a:r>
              <a:t>[内部编号] Q11—揭示</a:t>
            </a:r>
          </a:p>
          <a:p xmlns:a="http://schemas.openxmlformats.org/drawingml/2006/main">
            <a:r>
              <a:t>[教学意图] 依次列出三组乘法，不急于背公式，再归纳总bit。</a:t>
            </a:r>
          </a:p>
          <a:p xmlns:a="http://schemas.openxmlformats.org/drawingml/2006/main">
            <a:r>
              <a:t>[教师逐字稿] 第一幅有12个像素，每个2bit，所以是3×4×2=24bit。好比40个人每人两块巧克力，总数要用40×2。第二幅像素多了，每格位数没变，得到96bit；第三幅每格改成3bit，得到144bit。请自己把共同结构说出来：像素总数乘每像素位数。这也解释了更高分辨率和更高位深度的存储代价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00:22:29–00:25:14；Snip 14–15；编号为重建导航，不是原课页面编号。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Q12—提问</a:t>
            </a:r>
          </a:p>
          <a:p xmlns:a="http://schemas.openxmlformats.org/drawingml/2006/main">
            <a:r>
              <a:t>[教学意图] 把24/96/144bit转成3/12/18B，归纳通式。</a:t>
            </a:r>
          </a:p>
          <a:p xmlns:a="http://schemas.openxmlformats.org/drawingml/2006/main">
            <a:r>
              <a:t>[教师逐字稿] 前一页得到的是 bit。如果题目要求 Byte，应该怎么换？换成 KiB、MiB 又要怎样做？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00:25:14–00:26:28；Snip 15–16；编号为重建导航，不是原课页面编号。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1024B=1KiB。https://physics.nist.gov/cuu/Units/binary.html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Q12—揭示</a:t>
            </a:r>
          </a:p>
          <a:p xmlns:a="http://schemas.openxmlformats.org/drawingml/2006/main">
            <a:r>
              <a:t>[教学意图] 把24/96/144bit转成3/12/18B，归纳通式。</a:t>
            </a:r>
          </a:p>
          <a:p xmlns:a="http://schemas.openxmlformats.org/drawingml/2006/main">
            <a:r>
              <a:t>[教师逐字稿] 像素数据量 B = 横向像素数 × 纵向像素数 × 位深度 ÷ 8。再除以 1024 得 KiB，再除以 1024 得 MiB。公式计算的是理想连续排列的像素有效载荷。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00:25:14–00:26:28；Snip 15–16；编号为重建导航，不是原课页面编号。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1024B=1KiB。https://physics.nist.gov/cuu/Units/binary.html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Q13—提问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先别看答案。黑白只有两种状态，需要几位？16 色和 256 色分别找哪个 2 的幂？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00:26:28–00:28:25；Snip 17–18；编号为重建导航，不是原课页面编号。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Q13—揭示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黑白 1 bit，16 色 4 bit，256 色 8 bit。若分辨率是 M×N，代入前页公式即可得到理想像素数据量。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00:26:28–00:28:25；Snip 17–18；编号为重建导航，不是原课页面编号。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Q14—提问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刚才已经算过黑白、16色和256色。现在直接给位深度24，请写出最多颜色数，再列M×N图像的像素数据量。先不用求出颜色数的十进制值。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用Photoshop显示的具体像素检验24位模型。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00:28:25–00:31:13；Snip 19；编号为重建导航，不是原课页面编号。</a:t>
            </a:r>
          </a:p>
          <a:p xmlns:a="http://schemas.openxmlformats.org/drawingml/2006/main">
            <a:r>
              <a:t>[技术注解]  RGB位数参考 https://helpx.adobe.com/photoshop/using/bit-depth.html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Q14—揭示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24位最多表示2的24次方种颜色，数据量是M×N×24除8字节。计算方法完全相同。为什么照片常用24位？下一页看红、绿、蓝三个通道怎样组成它。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用Photoshop显示的具体像素检验24位模型。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00:28:25–00:31:13；Snip 19；编号为重建导航，不是原课页面编号。</a:t>
            </a:r>
          </a:p>
          <a:p xmlns:a="http://schemas.openxmlformats.org/drawingml/2006/main">
            <a:r>
              <a:t>[技术注解]  RGB位数参考 https://helpx.adobe.com/photoshop/using/bit-depth.html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Q14—提问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三个通道要组成 24 bit，每个通道分到几位？一个通道最多有多少个等级？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用Photoshop显示的具体像素检验24位模型。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00:28:25–00:31:13；Snip 19；编号为重建导航，不是原课页面编号。</a:t>
            </a:r>
          </a:p>
          <a:p xmlns:a="http://schemas.openxmlformats.org/drawingml/2006/main">
            <a:r>
              <a:t>[技术注解]  RGB位数参考 https://helpx.adobe.com/photoshop/using/bit-depth.html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Q14—揭示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每个通道8bit，可以取0到255，共256级。三个通道的等级独立组合，所以一共有256×256×256种组合，等于2的24次方。每个像素的总位数是8+8+8=24。这里说的是不带透明通道的24位RGB模型；软件中的“8位/通道”不要误读成整像素只有8位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用Photoshop显示的具体像素检验24位模型。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00:28:25–00:31:13；Snip 19；编号为重建导航，不是原课页面编号。</a:t>
            </a:r>
          </a:p>
          <a:p xmlns:a="http://schemas.openxmlformats.org/drawingml/2006/main">
            <a:r>
              <a:t>[技术注解]  RGB位数参考 https://helpx.adobe.com/photoshop/using/bit-depth.html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一个 RGB 像素真正保存了什么？</a:t>
            </a:r>
          </a:p>
          <a:p xmlns:a="http://schemas.openxmlformats.org/drawingml/2006/main">
            <a:r>
              <a:t>[内部编号] Q15—提问</a:t>
            </a:r>
          </a:p>
          <a:p xmlns:a="http://schemas.openxmlformats.org/drawingml/2006/main">
            <a:r>
              <a:t>[教学意图] 读取R220/G95/B15，并观察三个8位二进制值。</a:t>
            </a:r>
          </a:p>
          <a:p xmlns:a="http://schemas.openxmlformats.org/drawingml/2006/main">
            <a:r>
              <a:t>[教师逐字稿] 软件用十进制显示通道数值。计算机内部保存时，用的是十进制字符，还是三个通道的二进制位？</a:t>
            </a:r>
          </a:p>
          <a:p xmlns:a="http://schemas.openxmlformats.org/drawingml/2006/main">
            <a:r>
              <a:t>[预期学生反应] 软件为人显示十进制，存储采用二进制；每通道补足8位。</a:t>
            </a:r>
          </a:p>
          <a:p xmlns:a="http://schemas.openxmlformats.org/drawingml/2006/main">
            <a:r>
              <a:t>[追问问题] G和B前面的0可以在这个固定宽度模型里省掉吗？</a:t>
            </a:r>
          </a:p>
          <a:p xmlns:a="http://schemas.openxmlformats.org/drawingml/2006/main">
            <a:r>
              <a:t>[下一问] 从一个像素的3bytes，计算整幅500×333图像。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00:30:06–00:31:13；Snip 20；编号为重建导航，不是原课页面编号。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一个 RGB 像素真正保存了什么？</a:t>
            </a:r>
          </a:p>
          <a:p xmlns:a="http://schemas.openxmlformats.org/drawingml/2006/main">
            <a:r>
              <a:t>[内部编号] Q15—揭示</a:t>
            </a:r>
          </a:p>
          <a:p xmlns:a="http://schemas.openxmlformats.org/drawingml/2006/main">
            <a:r>
              <a:t>[教学意图] 读取R220/G95/B15，并观察三个8位二进制值。</a:t>
            </a:r>
          </a:p>
          <a:p xmlns:a="http://schemas.openxmlformats.org/drawingml/2006/main">
            <a:r>
              <a:t>[教师逐字稿] 这三个值分别能写成 8 位二进制：220 是 11011100，95 是 01011111，15 是 00001111。一个像素合计 24 bit，也就是 3 bytes。</a:t>
            </a:r>
          </a:p>
          <a:p xmlns:a="http://schemas.openxmlformats.org/drawingml/2006/main">
            <a:r>
              <a:t>[预期学生反应] 软件为人显示十进制，存储采用二进制；每通道补足8位。</a:t>
            </a:r>
          </a:p>
          <a:p xmlns:a="http://schemas.openxmlformats.org/drawingml/2006/main">
            <a:r>
              <a:t>[追问问题] G和B前面的0可以在这个固定宽度模型里省掉吗？</a:t>
            </a:r>
          </a:p>
          <a:p xmlns:a="http://schemas.openxmlformats.org/drawingml/2006/main">
            <a:r>
              <a:t>[下一问] 从一个像素的3bytes，计算整幅500×333图像。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00:30:06–00:31:13；Snip 20；编号为重建导航，不是原课页面编号。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Q16—提问</a:t>
            </a:r>
          </a:p>
          <a:p xmlns:a="http://schemas.openxmlformats.org/drawingml/2006/main">
            <a:r>
              <a:t>[教学意图] 先独立列式和计算，再看原课文件属性作为量级对照。</a:t>
            </a:r>
          </a:p>
          <a:p xmlns:a="http://schemas.openxmlformats.org/drawingml/2006/main">
            <a:r>
              <a:t>[教师逐字稿] 先算像素总数，再乘每像素 24 位。题目若要求 B 或 KiB，别忘记单位转换。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公式算的是像素有效载荷，文件头等信息算进去了吗？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00:31:13–00:33:09；Snip 20；编号为重建导航，不是原课页面编号。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Q16—揭示</a:t>
            </a:r>
          </a:p>
          <a:p xmlns:a="http://schemas.openxmlformats.org/drawingml/2006/main">
            <a:r>
              <a:t>[教学意图] 先独立列式和计算，再看原课文件属性作为量级对照。</a:t>
            </a:r>
          </a:p>
          <a:p xmlns:a="http://schemas.openxmlformats.org/drawingml/2006/main">
            <a:r>
              <a:t>[教师逐字稿] 先核对式子：500×333是像素数，乘24得到bit，除8得到499500B，再除1024约487.79KiB，按整数四舍五入约488KiB。我们算的是像素数据量。下一页再看原课的487KB文件属性，它只能帮助比较量级，不能用来证明精确相等。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公式算的是像素有效载荷，文件头等信息算进去了吗？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00:31:13–00:33:09；Snip 20；编号为重建导航，不是原课页面编号。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公式计算的是像素数据量</a:t>
            </a:r>
          </a:p>
          <a:p xmlns:a="http://schemas.openxmlformats.org/drawingml/2006/main">
            <a:r>
              <a:t>[内部编号] Q16—evidence</a:t>
            </a:r>
          </a:p>
          <a:p xmlns:a="http://schemas.openxmlformats.org/drawingml/2006/main">
            <a:r>
              <a:t>[教学意图] 先独立列式和计算，再看原课文件属性作为量级对照。</a:t>
            </a:r>
          </a:p>
          <a:p xmlns:a="http://schemas.openxmlformats.org/drawingml/2006/main">
            <a:r>
              <a:t>[教师逐字稿] 原课把487KB作为公式验证。请注意，我们算出的487.79KiB不能四舍五入成487；截图也没有给出精确字节数。完整文件除了像素还可能有头部和填充。这个例子用于比较量级，课堂公式限定在未压缩像素数据量。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公式算的是像素有效载荷，文件头等信息算进去了吗？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00:31:13–00:33:09；Snip 20；编号为重建导航，不是原课页面编号。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照片放大为什么会糊？</a:t>
            </a:r>
          </a:p>
          <a:p xmlns:a="http://schemas.openxmlformats.org/drawingml/2006/main">
            <a:r>
              <a:t>[内部编号] Q17—提问</a:t>
            </a:r>
          </a:p>
          <a:p xmlns:a="http://schemas.openxmlformats.org/drawingml/2006/main">
            <a:r>
              <a:t>[教学意图] 解释模糊，并给出拍摄时适当提高分辨率的建议。</a:t>
            </a:r>
          </a:p>
          <a:p xmlns:a="http://schemas.openxmlformats.org/drawingml/2006/main">
            <a:r>
              <a:t>[教师逐字稿] 现在用“像素”和“分辨率”回答开头的问题。把已经拍好的位图放大，究竟多出了什么？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如果原图的信息已经缺失，AI又是怎样补出内容的？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00:33:09–00:33:39；Snip 21；编号为重建导航，不是原课页面编号。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照片放大为什么会糊？</a:t>
            </a:r>
          </a:p>
          <a:p xmlns:a="http://schemas.openxmlformats.org/drawingml/2006/main">
            <a:r>
              <a:t>[内部编号] Q17—揭示</a:t>
            </a:r>
          </a:p>
          <a:p xmlns:a="http://schemas.openxmlformats.org/drawingml/2006/main">
            <a:r>
              <a:t>[教学意图] 解释模糊，并给出拍摄时适当提高分辨率的建议。</a:t>
            </a:r>
          </a:p>
          <a:p xmlns:a="http://schemas.openxmlformats.org/drawingml/2006/main">
            <a:r>
              <a:t>[教师逐字稿] 这张照片只有有限的像素。放大时已有像素被拉大或通过插值产生中间值，但没有重新采到场景细节。若目标是拍摄后还能放大查看，可以在拍摄时适当提高真实采样分辨率，同时考虑存储量、镜头、对焦等条件。接下来，如果信息已经缺失，AI补出来的又是什么？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如果原图的信息已经缺失，AI又是怎样补出内容的？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00:33:09–00:33:39；Snip 21；编号为重建导航，不是原课页面编号。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Q18—提问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照片有大片缺损。请观察剩下的脸、衣服和背景，猜哪些线索能用来推断缺失处。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把花、像素和数据重新放回“连续与离散”的统一模型。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00:33:39–00:37:19；Snip 22–25；编号为重建导航，不是原课页面编号。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Q18—揭示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先指出破损区，再观察周围还留下哪些线索。模型可以利用周边内容和学到的图像规律推断缺损处，给这些位置补上颜色数据。右边是原课展示的修复结果。看起来合理，并不能证明补出的部分就是原来的真实细节。这也能解释同学为什么会遇到“修得不像”的情况。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把花、像素和数据重新放回“连续与离散”的统一模型。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00:33:39–00:37:19；Snip 22–25；编号为重建导航，不是原课页面编号。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用四步理解照片修复</a:t>
            </a:r>
          </a:p>
          <a:p xmlns:a="http://schemas.openxmlformats.org/drawingml/2006/main">
            <a:r>
              <a:t>[内部编号] Q18—evidence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先找到损坏的位置，再利用完好区和图像规律推断缺的内容，给这些位置补上像素颜色并保存。原课把第三步称为“重新采样”，这里按它的教学意图说成“补全像素”。它不是相机重新看到过去，也不是所有AI算法都固定经过这四步。下一步回到花朵：自然光和计算机中的图像，表示方式有什么差别？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把花、像素和数据重新放回“连续与离散”的统一模型。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00:33:39–00:37:19；Snip 22–25；编号为重建导航，不是原课页面编号。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什么叫模拟量？</a:t>
            </a:r>
          </a:p>
          <a:p xmlns:a="http://schemas.openxmlformats.org/drawingml/2006/main">
            <a:r>
              <a:t>[内部编号] Q19—提问</a:t>
            </a:r>
          </a:p>
          <a:p xmlns:a="http://schemas.openxmlformats.org/drawingml/2006/main">
            <a:r>
              <a:t>[教学意图] 先分类四个原课例子，再辨认连续变化。</a:t>
            </a:r>
          </a:p>
          <a:p xmlns:a="http://schemas.openxmlformats.org/drawingml/2006/main">
            <a:r>
              <a:t>[教师逐字稿] 温度会不会只能取整度？一段声音的强弱变化是跳着发生，还是可以连续变化？</a:t>
            </a:r>
          </a:p>
          <a:p xmlns:a="http://schemas.openxmlformats.org/drawingml/2006/main">
            <a:r>
              <a:t>[预期学生反应] 温度、声波随时间；压强、光照例子随空间。</a:t>
            </a:r>
          </a:p>
          <a:p xmlns:a="http://schemas.openxmlformats.org/drawingml/2006/main">
            <a:r>
              <a:t>[追问问题] 两次测量之间是否仍可有温度值？连续不只是“画线不断”。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00:37:19–00:41:41；Snip 26；编号为重建导航，不是原课页面编号。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什么叫模拟量？</a:t>
            </a:r>
          </a:p>
          <a:p xmlns:a="http://schemas.openxmlformats.org/drawingml/2006/main">
            <a:r>
              <a:t>[内部编号] Q19—揭示</a:t>
            </a:r>
          </a:p>
          <a:p xmlns:a="http://schemas.openxmlformats.org/drawingml/2006/main">
            <a:r>
              <a:t>[教学意图] 先分类四个原课例子，再辨认连续变化。</a:t>
            </a:r>
          </a:p>
          <a:p xmlns:a="http://schemas.openxmlformats.org/drawingml/2006/main">
            <a:r>
              <a:t>[教师逐字稿] 温度和声波的这两个例子主要看随时间的变化；海水压强随深度、光照强度随位置的例子主要看随空间的变化。我们用连续变化的物理量描述这些现象，称为模拟量。时间和空间是观察的自变量；关键在连续变化，不是所有例子都同时依赖时间和空间。</a:t>
            </a:r>
          </a:p>
          <a:p xmlns:a="http://schemas.openxmlformats.org/drawingml/2006/main">
            <a:r>
              <a:t>[预期学生反应] 温度、声波随时间；压强、光照例子随空间。</a:t>
            </a:r>
          </a:p>
          <a:p xmlns:a="http://schemas.openxmlformats.org/drawingml/2006/main">
            <a:r>
              <a:t>[追问问题] 两次测量之间是否仍可有温度值？连续不只是“画线不断”。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00:37:19–00:41:41；Snip 26；编号为重建导航，不是原课页面编号。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模拟量的关键：连续变化</a:t>
            </a:r>
          </a:p>
          <a:p xmlns:a="http://schemas.openxmlformats.org/drawingml/2006/main">
            <a:r>
              <a:t>[内部编号] Q19—evidence</a:t>
            </a:r>
          </a:p>
          <a:p xmlns:a="http://schemas.openxmlformats.org/drawingml/2006/main">
            <a:r>
              <a:t>[教学意图] 先分类四个原课例子，再辨认连续变化。</a:t>
            </a:r>
          </a:p>
          <a:p xmlns:a="http://schemas.openxmlformats.org/drawingml/2006/main">
            <a:r>
              <a:t>[教师逐字稿] 假设这条线表示温度随时间的变化。我们即使没有在某个时刻测量，物理量也不会因为没人读数就不存在；这个模型描述连续变化。原课还举电流和电压承载模拟信号的例子。不要把“任意点有值”当作严格的数学连续性定义，本课只建立连续与离散表示的直观区别。</a:t>
            </a:r>
          </a:p>
          <a:p xmlns:a="http://schemas.openxmlformats.org/drawingml/2006/main">
            <a:r>
              <a:t>[预期学生反应] 温度、声波随时间；压强、光照例子随空间。</a:t>
            </a:r>
          </a:p>
          <a:p xmlns:a="http://schemas.openxmlformats.org/drawingml/2006/main">
            <a:r>
              <a:t>[追问问题] 两次测量之间是否仍可有温度值？连续不只是“画线不断”。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00:37:19–00:41:41；Snip 26；编号为重建导航，不是原课页面编号。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Q20—提问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前一页的曲线可以取许多中间值。现在如果只允许 0 或 1，两种状态之间能直接存一个任意中间数吗？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多个bit组成码字后，能不能表示220？</a:t>
            </a:r>
          </a:p>
          <a:p xmlns:a="http://schemas.openxmlformats.org/drawingml/2006/main">
            <a:r>
              <a:t>[下一问] 回扣花朵思想实验，完整说出信息数字化过程。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00:41:41–00:43:11；Snip 27；编号为重建导航，不是原课页面编号。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Q20—揭示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采样把空间位置离散化，量化把每个位置的值映射到有限等级，再用码字表示。例如00、01、10、11是四种码字；每一位只有0或1，但多个位能够表示许多不同数值。数字量强调离散表示，不能理解成计算机只能存0和1两个数值。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多个bit组成码字后，能不能表示220？</a:t>
            </a:r>
          </a:p>
          <a:p xmlns:a="http://schemas.openxmlformats.org/drawingml/2006/main">
            <a:r>
              <a:t>[下一问] 回扣花朵思想实验，完整说出信息数字化过程。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00:41:41–00:43:11；Snip 27；编号为重建导航，不是原课页面编号。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Q21—提问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回顾整节课：花朵反射的光怎样一步步变成计算机能保存的数据？请把中间三个词按顺序说出来。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课后用补充练习检查位深度、数据量和放大解释。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00:43:11–00:43:32；Snip 27；编号为重建导航，不是原课页面编号。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Q21—揭示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现在请完整说出这条链：光经过采样、量化、编码，成为可以存储的数字图像。采样解决在哪些位置取样，量化解决怎样用有限等级表示，编码解决怎样写成码字。这就是信息数字化。分辨率和位深度决定本课简化模型里的像素数据量，也分别影响空间细节和颜色表达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课后用补充练习检查位深度、数据量和放大解释。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00:43:11–00:43:32；Snip 27；编号为重建导航，不是原课页面编号。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课后检查位深度、像素数据量和放大的边界</a:t>
            </a:r>
          </a:p>
          <a:p xmlns:a="http://schemas.openxmlformats.org/drawingml/2006/main">
            <a:r>
              <a:t>[内部编号] Q22</a:t>
            </a:r>
          </a:p>
          <a:p xmlns:a="http://schemas.openxmlformats.org/drawingml/2006/main">
            <a:r>
              <a:t>[教师逐字稿] 今天先完成这三题。第一题请写判断位数的不等式；第二题写清像素数、每像素位数和单位转换；第三题用“原始信息”解释。原课布置的是新发讲义第二页，但源资料没有那张讲义，这三题是重建版补充题，可直接抄在纸上作答。</a:t>
            </a:r>
          </a:p>
          <a:p xmlns:a="http://schemas.openxmlformats.org/drawingml/2006/main">
            <a:r>
              <a:t>[参考答案] 1. 3bit，4&lt;6≤8。2. 800×600×24÷8=1440000B。3. 没有；插值增加像素数量，不等于增加真实采集的细节。</a:t>
            </a:r>
          </a:p>
          <a:p xmlns:a="http://schemas.openxmlformats.org/drawingml/2006/main">
            <a:r>
              <a:t>[来源] 原课作业位置00:43:32以后；题目为重建补充，不冒充原题。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1aa046c6b43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6672f1285a4a99" /><Relationship Type="http://schemas.openxmlformats.org/officeDocument/2006/relationships/slideLayout" Target="/ppt/slideLayouts/slideLayout1.xml" Id="R5890fb0bb1f94c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0fb0bb1f94c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9ad044c614d28" /><Relationship Type="http://schemas.openxmlformats.org/officeDocument/2006/relationships/notesSlide" Target="/ppt/notesSlides/notesSlide1.xml" Id="Rf14dcd398aa34c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fa9442361442e" /><Relationship Type="http://schemas.openxmlformats.org/officeDocument/2006/relationships/image" Target="/ppt/media/image.png" Id="R808f10fa7c704490" /><Relationship Type="http://schemas.openxmlformats.org/officeDocument/2006/relationships/notesSlide" Target="/ppt/notesSlides/notesSlide2.xml" Id="R28779f9c0baa49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3923ca3c149d6" /><Relationship Type="http://schemas.openxmlformats.org/officeDocument/2006/relationships/image" Target="/ppt/media/image.png" Id="Rcf6b5175cd7d41f1" /><Relationship Type="http://schemas.openxmlformats.org/officeDocument/2006/relationships/image" Target="/ppt/media/image2.png" Id="R3997bf2a698447bd" /><Relationship Type="http://schemas.openxmlformats.org/officeDocument/2006/relationships/notesSlide" Target="/ppt/notesSlides/notesSlide3.xml" Id="R53545e8fbb824f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5445d9a7d46a3" /><Relationship Type="http://schemas.openxmlformats.org/officeDocument/2006/relationships/notesSlide" Target="/ppt/notesSlides/notesSlide4.xml" Id="Rd5042602b71048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fd64945ab4652" /><Relationship Type="http://schemas.openxmlformats.org/officeDocument/2006/relationships/notesSlide" Target="/ppt/notesSlides/notesSlide5.xml" Id="Rb6d68db91d9d4a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871e2ae6247a4" /><Relationship Type="http://schemas.openxmlformats.org/officeDocument/2006/relationships/notesSlide" Target="/ppt/notesSlides/notesSlide6.xml" Id="R0d9d194ff04b44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29ed21d934b38" /><Relationship Type="http://schemas.openxmlformats.org/officeDocument/2006/relationships/notesSlide" Target="/ppt/notesSlides/notesSlide7.xml" Id="R4c87d6efc3ec47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e54497c5d4bef" /><Relationship Type="http://schemas.openxmlformats.org/officeDocument/2006/relationships/notesSlide" Target="/ppt/notesSlides/notesSlide8.xml" Id="Rafa5aeb324b34a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dbc0de2ff4d61" /><Relationship Type="http://schemas.openxmlformats.org/officeDocument/2006/relationships/notesSlide" Target="/ppt/notesSlides/notesSlide9.xml" Id="Re77941a99e5c4e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569a9963e4feb" /><Relationship Type="http://schemas.openxmlformats.org/officeDocument/2006/relationships/notesSlide" Target="/ppt/notesSlides/notesSlide10.xml" Id="Rb124815f411e49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a25a0aeb742d4" /><Relationship Type="http://schemas.openxmlformats.org/officeDocument/2006/relationships/notesSlide" Target="/ppt/notesSlides/notesSlide11.xml" Id="R327f5be7598247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8edb371554111" /><Relationship Type="http://schemas.openxmlformats.org/officeDocument/2006/relationships/notesSlide" Target="/ppt/notesSlides/notesSlide12.xml" Id="R3c14eb97b5c24b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c563221614ef3" /><Relationship Type="http://schemas.openxmlformats.org/officeDocument/2006/relationships/notesSlide" Target="/ppt/notesSlides/notesSlide13.xml" Id="Ra3aef621cff843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d1ffd55834e96" /><Relationship Type="http://schemas.openxmlformats.org/officeDocument/2006/relationships/notesSlide" Target="/ppt/notesSlides/notesSlide14.xml" Id="Ra615b810017243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7c2457c80426b" /><Relationship Type="http://schemas.openxmlformats.org/officeDocument/2006/relationships/notesSlide" Target="/ppt/notesSlides/notesSlide15.xml" Id="Rc61c4eb71c3941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effc151784089" /><Relationship Type="http://schemas.openxmlformats.org/officeDocument/2006/relationships/notesSlide" Target="/ppt/notesSlides/notesSlide16.xml" Id="R29b8b56cd1434e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ed14f949b4b07" /><Relationship Type="http://schemas.openxmlformats.org/officeDocument/2006/relationships/notesSlide" Target="/ppt/notesSlides/notesSlide17.xml" Id="R98762fd2433345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e17886b804581" /><Relationship Type="http://schemas.openxmlformats.org/officeDocument/2006/relationships/notesSlide" Target="/ppt/notesSlides/notesSlide18.xml" Id="R2282a6d8fe6b40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c0b2a6bff4411" /><Relationship Type="http://schemas.openxmlformats.org/officeDocument/2006/relationships/notesSlide" Target="/ppt/notesSlides/notesSlide19.xml" Id="R4d4761f09d7b43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4cf75ef984621" /><Relationship Type="http://schemas.openxmlformats.org/officeDocument/2006/relationships/notesSlide" Target="/ppt/notesSlides/notesSlide20.xml" Id="Raefa78ae20dd4c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50da1b5c84efc" /><Relationship Type="http://schemas.openxmlformats.org/officeDocument/2006/relationships/notesSlide" Target="/ppt/notesSlides/notesSlide21.xml" Id="Rb1e79e2f95c94f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5d73063e34fbb" /><Relationship Type="http://schemas.openxmlformats.org/officeDocument/2006/relationships/notesSlide" Target="/ppt/notesSlides/notesSlide22.xml" Id="Ra694662411f642b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565b1793b455b" /><Relationship Type="http://schemas.openxmlformats.org/officeDocument/2006/relationships/notesSlide" Target="/ppt/notesSlides/notesSlide23.xml" Id="R737f7720de8844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0f617805b4dc8" /><Relationship Type="http://schemas.openxmlformats.org/officeDocument/2006/relationships/notesSlide" Target="/ppt/notesSlides/notesSlide24.xml" Id="R034168d514ad4e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f8d5a6d5045ae" /><Relationship Type="http://schemas.openxmlformats.org/officeDocument/2006/relationships/notesSlide" Target="/ppt/notesSlides/notesSlide25.xml" Id="Rab47a2c772c14a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1bf10cee14469" /><Relationship Type="http://schemas.openxmlformats.org/officeDocument/2006/relationships/notesSlide" Target="/ppt/notesSlides/notesSlide26.xml" Id="R7cd1c36fc74149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1243afd294b3b" /><Relationship Type="http://schemas.openxmlformats.org/officeDocument/2006/relationships/notesSlide" Target="/ppt/notesSlides/notesSlide27.xml" Id="R9d85ac451b574b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002d1c54049fe" /><Relationship Type="http://schemas.openxmlformats.org/officeDocument/2006/relationships/notesSlide" Target="/ppt/notesSlides/notesSlide28.xml" Id="R47f2200f2b4a40c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fec9420454137" /><Relationship Type="http://schemas.openxmlformats.org/officeDocument/2006/relationships/notesSlide" Target="/ppt/notesSlides/notesSlide29.xml" Id="Re20c2d92902a477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819560c0f4046" /><Relationship Type="http://schemas.openxmlformats.org/officeDocument/2006/relationships/notesSlide" Target="/ppt/notesSlides/notesSlide30.xml" Id="R40349e9a597844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7407fd2bf4433" /><Relationship Type="http://schemas.openxmlformats.org/officeDocument/2006/relationships/notesSlide" Target="/ppt/notesSlides/notesSlide31.xml" Id="R21c62bb3f0cb4d8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3400287cb453b" /><Relationship Type="http://schemas.openxmlformats.org/officeDocument/2006/relationships/notesSlide" Target="/ppt/notesSlides/notesSlide32.xml" Id="R911a464194b04e9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20cabc2554426" /><Relationship Type="http://schemas.openxmlformats.org/officeDocument/2006/relationships/notesSlide" Target="/ppt/notesSlides/notesSlide33.xml" Id="R1918256460604a0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9f9f2c5344994" /><Relationship Type="http://schemas.openxmlformats.org/officeDocument/2006/relationships/notesSlide" Target="/ppt/notesSlides/notesSlide34.xml" Id="Re74cde603081480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3cad6ebd942af" /><Relationship Type="http://schemas.openxmlformats.org/officeDocument/2006/relationships/notesSlide" Target="/ppt/notesSlides/notesSlide35.xml" Id="R56198bb656f7416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59f2f10094103" /><Relationship Type="http://schemas.openxmlformats.org/officeDocument/2006/relationships/notesSlide" Target="/ppt/notesSlides/notesSlide36.xml" Id="R5d1188d53f5547f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511037a2c4f8c" /><Relationship Type="http://schemas.openxmlformats.org/officeDocument/2006/relationships/notesSlide" Target="/ppt/notesSlides/notesSlide37.xml" Id="R96a2b5854fc2423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383c72d0c4469" /><Relationship Type="http://schemas.openxmlformats.org/officeDocument/2006/relationships/notesSlide" Target="/ppt/notesSlides/notesSlide38.xml" Id="R2219889ce3a6494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13cbb60434ab7" /><Relationship Type="http://schemas.openxmlformats.org/officeDocument/2006/relationships/image" Target="/ppt/media/image3.png" Id="R72d8341e7f154163" /><Relationship Type="http://schemas.openxmlformats.org/officeDocument/2006/relationships/notesSlide" Target="/ppt/notesSlides/notesSlide39.xml" Id="Rf9a838c092124cb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4e1e9ac144c38" /><Relationship Type="http://schemas.openxmlformats.org/officeDocument/2006/relationships/image" Target="/ppt/media/image3.png" Id="Rb04b9e8e9d504efd" /><Relationship Type="http://schemas.openxmlformats.org/officeDocument/2006/relationships/notesSlide" Target="/ppt/notesSlides/notesSlide40.xml" Id="R69020fdec27745b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77a84342c44be" /><Relationship Type="http://schemas.openxmlformats.org/officeDocument/2006/relationships/notesSlide" Target="/ppt/notesSlides/notesSlide41.xml" Id="Ra681be6d1753407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18a84e4cf4c70" /><Relationship Type="http://schemas.openxmlformats.org/officeDocument/2006/relationships/notesSlide" Target="/ppt/notesSlides/notesSlide42.xml" Id="R3abb18751f0f4c3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28027f3ef4c9b" /><Relationship Type="http://schemas.openxmlformats.org/officeDocument/2006/relationships/image" Target="/ppt/media/image4.png" Id="R5b8e31f5cfcd4560" /><Relationship Type="http://schemas.openxmlformats.org/officeDocument/2006/relationships/notesSlide" Target="/ppt/notesSlides/notesSlide43.xml" Id="Ra9a3eddeb000463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c4efc77a54b9c" /><Relationship Type="http://schemas.openxmlformats.org/officeDocument/2006/relationships/image" Target="/ppt/media/image5.png" Id="Re901ad068c5f447b" /><Relationship Type="http://schemas.openxmlformats.org/officeDocument/2006/relationships/notesSlide" Target="/ppt/notesSlides/notesSlide44.xml" Id="Re971bd590fd9460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4d2f99aa44e31" /><Relationship Type="http://schemas.openxmlformats.org/officeDocument/2006/relationships/image" Target="/ppt/media/image5.png" Id="R0aac184bab454744" /><Relationship Type="http://schemas.openxmlformats.org/officeDocument/2006/relationships/notesSlide" Target="/ppt/notesSlides/notesSlide45.xml" Id="R654786de76994f1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14cb292564774" /><Relationship Type="http://schemas.openxmlformats.org/officeDocument/2006/relationships/image" Target="/ppt/media/image6.png" Id="Rf3ba0af27be04f47" /><Relationship Type="http://schemas.openxmlformats.org/officeDocument/2006/relationships/notesSlide" Target="/ppt/notesSlides/notesSlide46.xml" Id="R97c9f3949afc454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d4386be2c44fc" /><Relationship Type="http://schemas.openxmlformats.org/officeDocument/2006/relationships/image" Target="/ppt/media/image6.png" Id="Re418050a032145ab" /><Relationship Type="http://schemas.openxmlformats.org/officeDocument/2006/relationships/image" Target="/ppt/media/image7.png" Id="R12e7e4ff77b84452" /><Relationship Type="http://schemas.openxmlformats.org/officeDocument/2006/relationships/notesSlide" Target="/ppt/notesSlides/notesSlide47.xml" Id="Rb021fee4611847a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c205076654a0a" /><Relationship Type="http://schemas.openxmlformats.org/officeDocument/2006/relationships/notesSlide" Target="/ppt/notesSlides/notesSlide48.xml" Id="R37026ac2f6124ee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3812e3e96409f" /><Relationship Type="http://schemas.openxmlformats.org/officeDocument/2006/relationships/notesSlide" Target="/ppt/notesSlides/notesSlide49.xml" Id="R7fccf27d0a9d4cb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9483ee9a84892" /><Relationship Type="http://schemas.openxmlformats.org/officeDocument/2006/relationships/notesSlide" Target="/ppt/notesSlides/notesSlide50.xml" Id="Rb4abb819de7b4c1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248f8c53846ab" /><Relationship Type="http://schemas.openxmlformats.org/officeDocument/2006/relationships/notesSlide" Target="/ppt/notesSlides/notesSlide51.xml" Id="Rb6f296301a554f0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c545769214dd9" /><Relationship Type="http://schemas.openxmlformats.org/officeDocument/2006/relationships/notesSlide" Target="/ppt/notesSlides/notesSlide52.xml" Id="R402c273ff48d4c5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33bace6c14fdf" /><Relationship Type="http://schemas.openxmlformats.org/officeDocument/2006/relationships/notesSlide" Target="/ppt/notesSlides/notesSlide53.xml" Id="R8bca459a4282424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b1358bf684a09" /><Relationship Type="http://schemas.openxmlformats.org/officeDocument/2006/relationships/notesSlide" Target="/ppt/notesSlides/notesSlide54.xml" Id="Raaa37917c757441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8064bf2c74a5d" /><Relationship Type="http://schemas.openxmlformats.org/officeDocument/2006/relationships/notesSlide" Target="/ppt/notesSlides/notesSlide55.xml" Id="R85384ee2e59e461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9dfb2a71644c7" /><Relationship Type="http://schemas.openxmlformats.org/officeDocument/2006/relationships/notesSlide" Target="/ppt/notesSlides/notesSlide56.xml" Id="Rca82bdc5ebae40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0B066-B21C-42F2-934D-4B545F58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6C9B8-4D84-42B1-8BB9-5CF67377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4BEB631-B172-4328-BC04-3230399C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BC6A450-9BF6-4F47-A36D-FCC22971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2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一朵花怎样变成二进制数据？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54C01-0B1C-439B-B87E-C54F2C10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67275"/>
            <a:ext cx="4572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D5CCF-093C-4F52-9BC2-C1907230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24475"/>
            <a:ext cx="43053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19287-327D-4EA4-80E0-F783326C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74945"/>
            <a:ext cx="4000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4C75D-9441-405C-BC47-3C085044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81525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DB499-7670-48A5-A5B4-E6B86F74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106" y="4783581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77EDC-361B-450D-B581-3F5662D3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67275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866F8-CF47-4059-98F5-A04250AB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94" y="4783581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D5EEB-CF0A-42DC-AB82-C2230725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81525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C3DD3-D87B-4BDF-85EA-835095B3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94" y="4379469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E8997-0597-4A15-814F-64627FD9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95775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264E5-5284-4A4C-B2CC-B1078163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106" y="4379469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70560-5DAE-42C1-A9EB-A43F523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4855"/>
            <a:ext cx="3810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E05DC-9684-46CC-951B-F9D48243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80" y="4634865"/>
            <a:ext cx="3810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47531-EB42-42B3-952C-0D302D7D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4688205"/>
            <a:ext cx="3810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7AE2E-9A48-4B11-AE0C-3B6A9DD4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772025"/>
            <a:ext cx="3810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6AA62-85B5-41C1-80AC-A7E35384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4813935"/>
            <a:ext cx="3810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2167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A32ED-2AB8-4310-A96A-BEFA880D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85690-528A-480F-A97E-306AD96E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D151B9A-39FE-4360-B626-22F1F200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照片不断放大，会发生什么？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f10fa7c704490"/>
          <a:stretch xmlns:a="http://schemas.openxmlformats.org/drawingml/2006/main"/>
        </p:blipFill>
        <p:spPr>
          <a:xfrm xmlns:a="http://schemas.openxmlformats.org/drawingml/2006/main">
            <a:off x="951611" y="1905000"/>
            <a:ext cx="2811652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EDFB3BE-4AE2-40F7-8C3E-080C05CA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预测：会出现什么？</a:t>
            </a:r>
          </a:p>
        </p:txBody>
      </p:sp>
    </p:spTree>
    <p:extLst>
      <p:ext uri="{BB962C8B-B14F-4D97-AF65-F5344CB8AC3E}">
        <p14:creationId xmlns:p14="http://schemas.microsoft.com/office/powerpoint/2010/main" val="251721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A32ED-2AB8-4310-A96A-BEFA880D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85690-528A-480F-A97E-306AD96E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D151B9A-39FE-4360-B626-22F1F200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照片不断放大，会发生什么？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b5175cd7d41f1"/>
          <a:stretch xmlns:a="http://schemas.openxmlformats.org/drawingml/2006/main"/>
        </p:blipFill>
        <p:spPr>
          <a:xfrm xmlns:a="http://schemas.openxmlformats.org/drawingml/2006/main">
            <a:off x="951611" y="1905000"/>
            <a:ext cx="2811652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EDFB3BE-4AE2-40F7-8C3E-080C05CA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预测：会出现什么？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7bf2a698447bd"/>
          <a:stretch xmlns:a="http://schemas.openxmlformats.org/drawingml/2006/main"/>
        </p:blipFill>
        <p:spPr>
          <a:xfrm xmlns:a="http://schemas.openxmlformats.org/drawingml/2006/main">
            <a:off x="5039953" y="1952625"/>
            <a:ext cx="5541095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1A96AF49-8291-46D3-802E-45B86F56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8578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像素：位图中的一个图像单元</a:t>
            </a:r>
          </a:p>
        </p:txBody>
      </p:sp>
    </p:spTree>
    <p:extLst>
      <p:ext uri="{BB962C8B-B14F-4D97-AF65-F5344CB8AC3E}">
        <p14:creationId xmlns:p14="http://schemas.microsoft.com/office/powerpoint/2010/main" val="251721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AE1EF-0CB9-4ACF-BABB-670F774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782C-9D3D-415C-A67C-629EA796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8468B53-E12D-437A-B37A-D7ADE12F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相机怎样“看到”一朵花？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F9616-CBB5-4DC9-9E18-768F43A6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3676650"/>
            <a:ext cx="102870" cy="1671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ABCD6-C26C-4768-B1D2-750EE569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05350"/>
            <a:ext cx="96869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3A8F9-FF0C-4D87-BBAA-10DCA14C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4593908"/>
            <a:ext cx="90011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0C6F6-A2DC-4632-9FD6-D5B592CA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3371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A79B6-704D-4916-9438-A42A6A84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38" y="3488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9CDBF-C5A4-472D-83EE-4B259B8F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3676650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98737-36F1-4600-A96F-9949F7BC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87" y="3488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D82C5-F75D-4278-A4CA-CA04B9FC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3371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7AA4D-0906-4A3D-BA31-BAB109A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87" y="2579087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38AF3-CBA4-4AB2-BF8C-F867A10D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2390775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60CB9-D8C6-4544-8895-C5C90A9D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38" y="2579087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9B318-5529-4AF5-AA97-7A49D34A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73705"/>
            <a:ext cx="857250" cy="90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65A14-DD6D-4D35-A23C-7C3EBBB9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555" y="315372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3C690-143D-4CCE-BD48-229152F9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158" y="327374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08831-DE0B-49C3-842C-FF4A813C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346233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91AC0-1755-4303-8E99-DD12421D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56635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2561AD93-81AE-4FE7-A5E1-9988AE2A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把眼前的红花变成可以保存的数据。</a:t>
            </a:r>
          </a:p>
        </p:txBody>
      </p:sp>
    </p:spTree>
    <p:extLst>
      <p:ext uri="{BB962C8B-B14F-4D97-AF65-F5344CB8AC3E}">
        <p14:creationId xmlns:p14="http://schemas.microsoft.com/office/powerpoint/2010/main" val="1924335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AE1EF-0CB9-4ACF-BABB-670F774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782C-9D3D-415C-A67C-629EA796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8468B53-E12D-437A-B37A-D7ADE12F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相机怎样“看到”一朵花？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F9616-CBB5-4DC9-9E18-768F43A6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3676650"/>
            <a:ext cx="102870" cy="1671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ABCD6-C26C-4768-B1D2-750EE569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05350"/>
            <a:ext cx="96869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3A8F9-FF0C-4D87-BBAA-10DCA14C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4593908"/>
            <a:ext cx="90011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0C6F6-A2DC-4632-9FD6-D5B592CA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3371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A79B6-704D-4916-9438-A42A6A84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38" y="3488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9CDBF-C5A4-472D-83EE-4B259B8F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3676650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98737-36F1-4600-A96F-9949F7BC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87" y="3488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D82C5-F75D-4278-A4CA-CA04B9FC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3371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7AA4D-0906-4A3D-BA31-BAB109A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87" y="2579087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38AF3-CBA4-4AB2-BF8C-F867A10D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2390775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60CB9-D8C6-4544-8895-C5C90A9D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38" y="2579087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9B318-5529-4AF5-AA97-7A49D34A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73705"/>
            <a:ext cx="857250" cy="90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65A14-DD6D-4D35-A23C-7C3EBBB9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555" y="315372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3C690-143D-4CCE-BD48-229152F9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158" y="327374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08831-DE0B-49C3-842C-FF4A813C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346233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91AC0-1755-4303-8E99-DD12421D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56635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2561AD93-81AE-4FE7-A5E1-9988AE2A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把眼前的红花变成可以保存的数据。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2EA78EB3-CC3E-430B-B6FA-A639D5F5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反射光 → 镜头 → 图像传感器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B9E0B186-7D19-44F2-BB6C-4C1F8B20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用有限位置采集光的信息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CEA2A27-8601-48EF-ABD7-2DEAA932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01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每个位置记录局部信息</a:t>
            </a:r>
          </a:p>
        </p:txBody>
      </p:sp>
    </p:spTree>
    <p:extLst>
      <p:ext uri="{BB962C8B-B14F-4D97-AF65-F5344CB8AC3E}">
        <p14:creationId xmlns:p14="http://schemas.microsoft.com/office/powerpoint/2010/main" val="1924335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2C971-B795-4FD2-98F3-A2235903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9B902-5EE3-457A-913F-F6EF66D5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11E34B-BC58-4E79-A2F4-3E10E02D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3×4，而不只写 12？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F8272-0326-40DD-876A-F8428BC3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3724275"/>
            <a:ext cx="102870" cy="1671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6DDCE-6153-457C-BAC6-DD52CCB7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52975"/>
            <a:ext cx="96869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35657-66A0-44F3-A683-8EBD1ECD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113" y="4641533"/>
            <a:ext cx="90011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3D418-20C6-49FC-BE9D-AF066BB5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81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04EF1-A38A-4EDE-AE63-E607E444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113" y="353596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5A886-09F4-4672-9239-748B0E2B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3724275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27C3F-0296-4D6B-A7F9-0B28AD34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862" y="353596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53B01-E23B-4793-A099-B0117B2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1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B69A2-31A5-4BE1-9714-37D69D7D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862" y="2626712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7E657-142A-4189-86F1-D165B395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2438400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50FF9-E3CD-4468-BD88-2086159D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113" y="2626712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C751B-621C-4E2F-8F39-0AEE6679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21330"/>
            <a:ext cx="857250" cy="90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246F2-9FC2-42E8-8489-0E0160F6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930" y="320135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E1F99-0B4C-4EDA-9A11-6C3642D4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332136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C877F-B5E6-4227-9724-96E03476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845" y="350996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1980E-1EB7-4E4D-962C-D5C79C42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604260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89779-FAA3-4AEB-A5EB-9010ABC3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88FC1-AEC6-4D73-B174-E4E2C1FE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5262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FAA8E-EEBC-4C67-9BAC-B15DD6D7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8DC96-2E6A-4BB2-A77C-29A664DE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682FE-5849-46A7-A5DF-91C4FC36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0955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21AF9-90A9-4622-B886-241D023F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9527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E2AB0-6989-4417-BC12-17804830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38100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2C1D0-B184-471A-AA3F-A5239C8C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46672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8F5CFD-6916-4334-BDB2-DF0BC4A6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55245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9FC7B6AD-0543-43BD-9A0A-00BC997E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横向3个；纵向4个</a:t>
            </a:r>
          </a:p>
        </p:txBody>
      </p:sp>
    </p:spTree>
    <p:extLst>
      <p:ext uri="{BB962C8B-B14F-4D97-AF65-F5344CB8AC3E}">
        <p14:creationId xmlns:p14="http://schemas.microsoft.com/office/powerpoint/2010/main" val="10868537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12C971-B795-4FD2-98F3-A2235903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9B902-5EE3-457A-913F-F6EF66D5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11E34B-BC58-4E79-A2F4-3E10E02D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3×4，而不只写 12？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F8272-0326-40DD-876A-F8428BC3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3724275"/>
            <a:ext cx="102870" cy="1671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6DDCE-6153-457C-BAC6-DD52CCB7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52975"/>
            <a:ext cx="96869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35657-66A0-44F3-A683-8EBD1ECD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113" y="4641533"/>
            <a:ext cx="90011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3D418-20C6-49FC-BE9D-AF066BB5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81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04EF1-A38A-4EDE-AE63-E607E444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113" y="353596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5A886-09F4-4672-9239-748B0E2B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3724275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27C3F-0296-4D6B-A7F9-0B28AD34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862" y="353596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53B01-E23B-4793-A099-B0117B2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1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B69A2-31A5-4BE1-9714-37D69D7D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862" y="2626712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7E657-142A-4189-86F1-D165B395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2438400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50FF9-E3CD-4468-BD88-2086159D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113" y="2626712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C751B-621C-4E2F-8F39-0AEE6679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21330"/>
            <a:ext cx="857250" cy="90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246F2-9FC2-42E8-8489-0E0160F6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930" y="320135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E1F99-0B4C-4EDA-9A11-6C3642D4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332136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C877F-B5E6-4227-9724-96E03476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845" y="350996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1980E-1EB7-4E4D-962C-D5C79C42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604260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89779-FAA3-4AEB-A5EB-9010ABC3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88FC1-AEC6-4D73-B174-E4E2C1FE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5262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FAA8E-EEBC-4C67-9BAC-B15DD6D7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8DC96-2E6A-4BB2-A77C-29A664DE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682FE-5849-46A7-A5DF-91C4FC36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0955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21AF9-90A9-4622-B886-241D023F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9527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E2AB0-6989-4417-BC12-17804830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38100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2C1D0-B184-471A-AA3F-A5239C8C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46672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8F5CFD-6916-4334-BDB2-DF0BC4A6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55245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9FC7B6AD-0543-43BD-9A0A-00BC997E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横向3个；纵向4个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CCB27560-24E4-4B61-991E-65B3CBF9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3×4 = 12 个位置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9D198762-F8D3-4350-8109-D5AE044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3×4保留横向与纵向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2AEC22D5-ED5D-425B-9934-71D31948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采集样本：采样</a:t>
            </a:r>
          </a:p>
        </p:txBody>
      </p:sp>
    </p:spTree>
    <p:extLst>
      <p:ext uri="{BB962C8B-B14F-4D97-AF65-F5344CB8AC3E}">
        <p14:creationId xmlns:p14="http://schemas.microsoft.com/office/powerpoint/2010/main" val="1086853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5FDED2-BFD3-416E-9FD1-4AD71BF1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7E2E1-BBF2-47B0-A787-89258B2E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068BAD-4AF3-498C-BDA3-4234465F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采样后，每个格子的颜色怎样记录？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F5DEF-DE91-431D-9EC0-0AA4A477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44" y="3595688"/>
            <a:ext cx="85725" cy="1393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C0387-EE8A-461E-9300-AB1F7C28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2938"/>
            <a:ext cx="807244" cy="32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59313-BB0E-4B4A-B1D4-65D34AE0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281" y="4360069"/>
            <a:ext cx="750094" cy="32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1ABB0-8EA8-42F7-8076-3D65C3D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59906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CBB52-B9FC-43CF-9558-6DA64C6C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48" y="3438761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EA7C2-034E-426D-846F-2128BCE5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3595688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C3D8D-3115-4E1A-BF67-67C60703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39" y="3438761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7ABD4-E312-4854-84DA-46EDD317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3059906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B3FBC-2740-4EBB-AB5F-02069628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39" y="2681052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9E8F9-1352-4631-A1C4-F2134DC5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2524125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A5EA5-DB80-4485-AB6D-9EDBC28C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48" y="2681052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423CD-5885-44D5-9950-242533E8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9900"/>
            <a:ext cx="714375" cy="7500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02421-1F9E-4AE4-ADA3-B0358142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159919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05262-A64F-4A20-93AE-63F08F87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131" y="3259931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54F9B-350F-4E6D-9EE3-4945E7EC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17094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C1922-D4EB-4DD6-B42C-CB12A3DB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95675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5D7E7-D753-4793-8CFB-59DBCFB0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073E7-7311-40E3-A8F2-AD52073D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375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2440A-89E1-4F50-9C58-0EACF568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F4875-3183-4DA1-BB1F-3AC1DA4F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2E0A2-25B5-4FE5-B259-1109171C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23837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EEF6F-C697-4C85-B5BF-18795FF6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952750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059ACB-3021-48FC-BCD9-8ABE812A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66712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EF60BE-A514-48ED-A106-02F16965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381500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6850A6-F829-4D30-AC96-C6D2ACBF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9587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06FEC1-1822-44A2-A84B-2BEAC9D6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DE04E-E34D-4E8E-AAAB-485A1167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BF4145-BECB-4F85-A175-6995353B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03FC4C-C1DC-4FEE-9A08-0D227475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E8B1E8-6C9D-4E8B-A623-8B7E1C23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0138C0-6C9D-410A-B9E5-25D5A132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8F8D03-4B71-4B91-B9FE-E757A6F7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F9230E-C508-4C01-BA2D-CDAED371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CAC4FA-3063-4D1C-94BD-5D8DB034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BD43B8-6316-4E47-9BB6-7404E021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5057DF-E8CE-4666-BBCF-832E2EAA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32ECE5-EB0B-4C11-9715-6894FB51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2B7D1E92-5E7B-4F40-A81A-BBE4018E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每格只留一种代表色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22C54874-A10E-4F47-B4AA-EE03ED49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怎样给颜色编号？</a:t>
            </a:r>
          </a:p>
        </p:txBody>
      </p:sp>
    </p:spTree>
    <p:extLst>
      <p:ext uri="{BB962C8B-B14F-4D97-AF65-F5344CB8AC3E}">
        <p14:creationId xmlns:p14="http://schemas.microsoft.com/office/powerpoint/2010/main" val="1070986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5FDED2-BFD3-416E-9FD1-4AD71BF1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7E2E1-BBF2-47B0-A787-89258B2E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068BAD-4AF3-498C-BDA3-4234465F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采样后，每个格子的颜色怎样记录？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F5DEF-DE91-431D-9EC0-0AA4A477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44" y="3595688"/>
            <a:ext cx="85725" cy="1393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C0387-EE8A-461E-9300-AB1F7C28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2938"/>
            <a:ext cx="807244" cy="32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59313-BB0E-4B4A-B1D4-65D34AE0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281" y="4360069"/>
            <a:ext cx="750094" cy="32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1ABB0-8EA8-42F7-8076-3D65C3D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59906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CBB52-B9FC-43CF-9558-6DA64C6C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48" y="3438761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EA7C2-034E-426D-846F-2128BCE5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3595688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C3D8D-3115-4E1A-BF67-67C60703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39" y="3438761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7ABD4-E312-4854-84DA-46EDD317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3059906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B3FBC-2740-4EBB-AB5F-02069628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39" y="2681052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9E8F9-1352-4631-A1C4-F2134DC5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2524125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A5EA5-DB80-4485-AB6D-9EDBC28C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48" y="2681052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423CD-5885-44D5-9950-242533E8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9900"/>
            <a:ext cx="714375" cy="7500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02421-1F9E-4AE4-ADA3-B0358142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159919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05262-A64F-4A20-93AE-63F08F87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131" y="3259931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54F9B-350F-4E6D-9EE3-4945E7EC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17094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C1922-D4EB-4DD6-B42C-CB12A3DB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95675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5D7E7-D753-4793-8CFB-59DBCFB0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073E7-7311-40E3-A8F2-AD52073D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375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2440A-89E1-4F50-9C58-0EACF568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F4875-3183-4DA1-BB1F-3AC1DA4F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2E0A2-25B5-4FE5-B259-1109171C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23837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EEF6F-C697-4C85-B5BF-18795FF6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952750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059ACB-3021-48FC-BCD9-8ABE812A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66712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EF60BE-A514-48ED-A106-02F16965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381500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6850A6-F829-4D30-AC96-C6D2ACBF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9587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06FEC1-1822-44A2-A84B-2BEAC9D6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DE04E-E34D-4E8E-AAAB-485A1167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BF4145-BECB-4F85-A175-6995353B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03FC4C-C1DC-4FEE-9A08-0D227475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E8B1E8-6C9D-4E8B-A623-8B7E1C23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0138C0-6C9D-410A-B9E5-25D5A132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8F8D03-4B71-4B91-B9FE-E757A6F7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F9230E-C508-4C01-BA2D-CDAED371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CAC4FA-3063-4D1C-94BD-5D8DB034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BD43B8-6316-4E47-9BB6-7404E021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5057DF-E8CE-4666-BBCF-832E2EAA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32ECE5-EB0B-4C11-9715-6894FB51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2B7D1E92-5E7B-4F40-A81A-BBE4018E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每格只留一种代表色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22C54874-A10E-4F47-B4AA-EE03ED49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怎样给颜色编号？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81B13F-A06E-41DD-8817-28C9692E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CF2BD86D-4012-464A-AE04-F4A81F69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43E624-EA32-4BC5-AC72-168CF26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F61CFCFE-F4BD-45CF-8E31-58E3459D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3572CC-4409-4052-BDC0-8A9873E4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9DBB7D10-7DBE-42FF-A174-AFB56D48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8A4932-5A70-439F-AA2D-F9B1F121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text-49">
            <a:extLst xmlns:a="http://schemas.openxmlformats.org/drawingml/2006/main">
              <a:ext uri="{FF2B5EF4-FFF2-40B4-BE49-F238E27FC236}">
                <a16:creationId xmlns:a16="http://schemas.microsoft.com/office/drawing/2014/main" id="{A9D990BE-D329-4106-B8FE-95E6969E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F51192-3E6C-4AB9-B8E6-9424E3D5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text-51">
            <a:extLst xmlns:a="http://schemas.openxmlformats.org/drawingml/2006/main">
              <a:ext uri="{FF2B5EF4-FFF2-40B4-BE49-F238E27FC236}">
                <a16:creationId xmlns:a16="http://schemas.microsoft.com/office/drawing/2014/main" id="{E890A027-778D-49D8-913D-08CF45D2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FB2DC0-40DA-4C20-8C3B-1F452AF6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CF2F675B-3EA0-4914-9395-A99344A0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2BF103-E224-413A-89CE-800504F2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text-55">
            <a:extLst xmlns:a="http://schemas.openxmlformats.org/drawingml/2006/main">
              <a:ext uri="{FF2B5EF4-FFF2-40B4-BE49-F238E27FC236}">
                <a16:creationId xmlns:a16="http://schemas.microsoft.com/office/drawing/2014/main" id="{879CDB98-8348-496E-9E5E-FFF54A3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AB244A-72F5-4F5A-AF3A-69A52B77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text-57">
            <a:extLst xmlns:a="http://schemas.openxmlformats.org/drawingml/2006/main">
              <a:ext uri="{FF2B5EF4-FFF2-40B4-BE49-F238E27FC236}">
                <a16:creationId xmlns:a16="http://schemas.microsoft.com/office/drawing/2014/main" id="{4B323C56-571C-404E-92C1-E5D3C37E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C624A5C-DB9E-4778-BFFB-4B199C61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text-59">
            <a:extLst xmlns:a="http://schemas.openxmlformats.org/drawingml/2006/main">
              <a:ext uri="{FF2B5EF4-FFF2-40B4-BE49-F238E27FC236}">
                <a16:creationId xmlns:a16="http://schemas.microsoft.com/office/drawing/2014/main" id="{8BB7B2F7-7C87-4B2B-AD59-E76A7714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8F4B86-0A28-4F8C-BE64-F7CFE508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text-61">
            <a:extLst xmlns:a="http://schemas.openxmlformats.org/drawingml/2006/main">
              <a:ext uri="{FF2B5EF4-FFF2-40B4-BE49-F238E27FC236}">
                <a16:creationId xmlns:a16="http://schemas.microsoft.com/office/drawing/2014/main" id="{DD61FAF1-A178-4982-B9AF-16B20445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91FE78-3D3D-4F08-8DEF-DFEB1A60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text-63">
            <a:extLst xmlns:a="http://schemas.openxmlformats.org/drawingml/2006/main">
              <a:ext uri="{FF2B5EF4-FFF2-40B4-BE49-F238E27FC236}">
                <a16:creationId xmlns:a16="http://schemas.microsoft.com/office/drawing/2014/main" id="{2E6E15A5-4F58-4243-877F-17062DC0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A8A8B9B-CCFD-461A-8128-D9A72738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text-65">
            <a:extLst xmlns:a="http://schemas.openxmlformats.org/drawingml/2006/main">
              <a:ext uri="{FF2B5EF4-FFF2-40B4-BE49-F238E27FC236}">
                <a16:creationId xmlns:a16="http://schemas.microsoft.com/office/drawing/2014/main" id="{0FB188CE-B11C-41EB-8462-89016276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8C32F875-465A-4BB5-AD7E-1EE8CE77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白0  红1  黄2  绿3</a:t>
            </a:r>
          </a:p>
        </p:txBody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0D16F233-625C-4A1E-9B62-D41E0C36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578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有限等级表示：量化</a:t>
            </a:r>
          </a:p>
        </p:txBody>
      </p:sp>
    </p:spTree>
    <p:extLst>
      <p:ext uri="{BB962C8B-B14F-4D97-AF65-F5344CB8AC3E}">
        <p14:creationId xmlns:p14="http://schemas.microsoft.com/office/powerpoint/2010/main" val="10709867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BB9A0-52AD-438B-863B-071F5E54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E214D-A2FB-4919-9356-DA3DD6CA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074EF0-03AC-4D20-B25A-A42FCA70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3B90D40-7B25-4639-A6DC-3697C69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每个像素只能取白、红、黄、绿中的一种颜色。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红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黄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绿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7277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BB9A0-52AD-438B-863B-071F5E54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E214D-A2FB-4919-9356-DA3DD6CA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074EF0-03AC-4D20-B25A-A42FCA70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3B90D40-7B25-4639-A6DC-3697C69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每个像素只能取白、红、黄、绿中的一种颜色。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红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黄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绿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C1C58E7-9441-4363-A8B5-0AD2EEF9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 有 4 种状态，刚好够用</a:t>
            </a:r>
          </a:p>
        </p:txBody>
      </p:sp>
    </p:spTree>
    <p:extLst>
      <p:ext uri="{BB962C8B-B14F-4D97-AF65-F5344CB8AC3E}">
        <p14:creationId xmlns:p14="http://schemas.microsoft.com/office/powerpoint/2010/main" val="12237277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E84D4-14B5-4E35-B599-E0C30A2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C260F-85F7-4EE0-AB95-C670949B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7A3DB76-A938-4610-9B71-71E7B73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6BA3D-8628-41A6-86B4-4E5FC2DD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F62237D-6365-4D4D-A3EB-495C9E2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72885-C2D0-41F3-B76B-10D8C6C5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D0D7193-EECB-4AA1-8562-A39092E8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805AE-760D-42BC-9B4C-57CCC82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51927AC-A17C-414C-9F66-F9C74CE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EB3DC-F504-4609-8387-7C11E25D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93A4DFE-577F-4531-85C1-07423DCE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57D04-E066-411B-ACDB-FD507982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00ACBF3-C5E5-4EB9-975E-0CD36ABF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7F7D9-30C6-440F-8141-11707229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FA7D1B1-D547-49B0-823D-15AB2D5F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BCCEC-53E7-4438-BD90-FF16037D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F2459685-8611-4942-8079-877D2DFA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1BA99-4952-4B46-959E-3B948682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190ED70-13C9-472C-8F1C-18726D41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894A3-BB48-4883-893A-74F5550C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08F2A52-F3BE-42DA-8741-90D89E7B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A8B1B-6398-4092-8B32-8C56BF92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D36C7914-FEB2-4079-A441-CC8A85E3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0E784-005D-4C92-8AD2-375612D1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E4D5E45-549E-431A-B530-53408115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2B5985-5E49-4268-A2E7-90EDB8A9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185501E-6191-4587-8CBC-3E9A4463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6731B820-1C70-4226-83DB-BA35F9C6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每格要写几个bit？</a:t>
            </a:r>
          </a:p>
        </p:txBody>
      </p:sp>
    </p:spTree>
    <p:extLst>
      <p:ext uri="{BB962C8B-B14F-4D97-AF65-F5344CB8AC3E}">
        <p14:creationId xmlns:p14="http://schemas.microsoft.com/office/powerpoint/2010/main" val="1983782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3E84D4-14B5-4E35-B599-E0C30A2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C260F-85F7-4EE0-AB95-C670949B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7A3DB76-A938-4610-9B71-71E7B73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6BA3D-8628-41A6-86B4-4E5FC2DD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F62237D-6365-4D4D-A3EB-495C9E2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72885-C2D0-41F3-B76B-10D8C6C5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D0D7193-EECB-4AA1-8562-A39092E8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805AE-760D-42BC-9B4C-57CCC82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51927AC-A17C-414C-9F66-F9C74CE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EB3DC-F504-4609-8387-7C11E25D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93A4DFE-577F-4531-85C1-07423DCE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57D04-E066-411B-ACDB-FD507982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00ACBF3-C5E5-4EB9-975E-0CD36ABF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7F7D9-30C6-440F-8141-11707229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FA7D1B1-D547-49B0-823D-15AB2D5F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BCCEC-53E7-4438-BD90-FF16037D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F2459685-8611-4942-8079-877D2DFA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1BA99-4952-4B46-959E-3B948682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190ED70-13C9-472C-8F1C-18726D41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894A3-BB48-4883-893A-74F5550C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08F2A52-F3BE-42DA-8741-90D89E7B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A8B1B-6398-4092-8B32-8C56BF92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D36C7914-FEB2-4079-A441-CC8A85E3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0E784-005D-4C92-8AD2-375612D1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E4D5E45-549E-431A-B530-53408115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2B5985-5E49-4268-A2E7-90EDB8A9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185501E-6191-4587-8CBC-3E9A4463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6731B820-1C70-4226-83DB-BA35F9C6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每格要写几个bit？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B9F5E-5162-4F7F-A9F3-F23DA27E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FB36773A-A1AD-48CE-95DC-0A0A3AB6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958BDF-1628-4F8B-9931-D14B2636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A2EA93FC-508D-4C1B-824B-813A7F1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E4417E-E65F-4955-BC63-027B73D7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0207832A-885F-48DB-B93E-895DBCE9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7FD02B-2A0F-4754-80A9-3E62031E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75EDE38-ED6E-4304-931A-BD154CA6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7E1D4B-01BC-45AD-B8FB-E8C576CC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8485AB0F-D362-4867-84B2-2DE40331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A4A38D-E8AB-4771-BA3A-AAF5700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B3420DCE-4D79-4B5F-A665-9DEB12A7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8BF9DA-3947-4774-95B6-2E8D56B5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14B66DFF-C069-4EE5-BE81-9502398C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9E4F75-A012-4883-99FF-8655CDA5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9845DEA7-E41E-490C-8FE4-768BEF6C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5706E6-CFFB-4F9C-B178-D6FF0A25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3E6ED261-6B1D-4FE1-BB47-6A3F8C9B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52FD9D-62A8-49D6-95AF-E8374580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E0135297-8647-4F76-B9B9-8E1EB219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8CB6EE-E380-49E3-A510-7A69D8C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text-49">
            <a:extLst xmlns:a="http://schemas.openxmlformats.org/drawingml/2006/main">
              <a:ext uri="{FF2B5EF4-FFF2-40B4-BE49-F238E27FC236}">
                <a16:creationId xmlns:a16="http://schemas.microsoft.com/office/drawing/2014/main" id="{A0347D69-A3E8-44B9-977A-9065B9A1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14AF44-FF0B-481D-930B-D6426AE1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text-51">
            <a:extLst xmlns:a="http://schemas.openxmlformats.org/drawingml/2006/main">
              <a:ext uri="{FF2B5EF4-FFF2-40B4-BE49-F238E27FC236}">
                <a16:creationId xmlns:a16="http://schemas.microsoft.com/office/drawing/2014/main" id="{211E6345-EE12-4CDC-83A1-7D24B30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DBFC21C0-38CF-4B1B-82DC-76B12133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编码：量化值 → 码字</a:t>
            </a:r>
          </a:p>
        </p:txBody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FBE9F675-F707-4DB2-9A8A-7CAC0269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102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位深度：每像素 2 bit</a:t>
            </a:r>
          </a:p>
        </p:txBody>
      </p:sp>
    </p:spTree>
    <p:extLst>
      <p:ext uri="{BB962C8B-B14F-4D97-AF65-F5344CB8AC3E}">
        <p14:creationId xmlns:p14="http://schemas.microsoft.com/office/powerpoint/2010/main" val="1983782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3E84D4-14B5-4E35-B599-E0C30A2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C260F-85F7-4EE0-AB95-C670949B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7A3DB76-A938-4610-9B71-71E7B73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6BA3D-8628-41A6-86B4-4E5FC2DD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F62237D-6365-4D4D-A3EB-495C9E2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72885-C2D0-41F3-B76B-10D8C6C5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D0D7193-EECB-4AA1-8562-A39092E8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805AE-760D-42BC-9B4C-57CCC82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51927AC-A17C-414C-9F66-F9C74CE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EB3DC-F504-4609-8387-7C11E25D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93A4DFE-577F-4531-85C1-07423DCE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57D04-E066-411B-ACDB-FD507982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00ACBF3-C5E5-4EB9-975E-0CD36ABF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7F7D9-30C6-440F-8141-11707229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FA7D1B1-D547-49B0-823D-15AB2D5F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BCCEC-53E7-4438-BD90-FF16037D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F2459685-8611-4942-8079-877D2DFA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1BA99-4952-4B46-959E-3B948682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190ED70-13C9-472C-8F1C-18726D41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894A3-BB48-4883-893A-74F5550C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C08F2A52-F3BE-42DA-8741-90D89E7B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A8B1B-6398-4092-8B32-8C56BF92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D36C7914-FEB2-4079-A441-CC8A85E3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0E784-005D-4C92-8AD2-375612D1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BE4D5E45-549E-431A-B530-53408115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2B5985-5E49-4268-A2E7-90EDB8A9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5185501E-6191-4587-8CBC-3E9A4463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6731B820-1C70-4226-83DB-BA35F9C6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每格要写几个bit？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B9F5E-5162-4F7F-A9F3-F23DA27E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FB36773A-A1AD-48CE-95DC-0A0A3AB6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958BDF-1628-4F8B-9931-D14B2636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A2EA93FC-508D-4C1B-824B-813A7F1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E4417E-E65F-4955-BC63-027B73D7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0207832A-885F-48DB-B93E-895DBCE9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7FD02B-2A0F-4754-80A9-3E62031E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75EDE38-ED6E-4304-931A-BD154CA6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7E1D4B-01BC-45AD-B8FB-E8C576CC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8485AB0F-D362-4867-84B2-2DE40331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A4A38D-E8AB-4771-BA3A-AAF5700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B3420DCE-4D79-4B5F-A665-9DEB12A7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8BF9DA-3947-4774-95B6-2E8D56B5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14B66DFF-C069-4EE5-BE81-9502398C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9E4F75-A012-4883-99FF-8655CDA5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9845DEA7-E41E-490C-8FE4-768BEF6C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5706E6-CFFB-4F9C-B178-D6FF0A25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3E6ED261-6B1D-4FE1-BB47-6A3F8C9B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52FD9D-62A8-49D6-95AF-E8374580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E0135297-8647-4F76-B9B9-8E1EB219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8CB6EE-E380-49E3-A510-7A69D8C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text-49">
            <a:extLst xmlns:a="http://schemas.openxmlformats.org/drawingml/2006/main">
              <a:ext uri="{FF2B5EF4-FFF2-40B4-BE49-F238E27FC236}">
                <a16:creationId xmlns:a16="http://schemas.microsoft.com/office/drawing/2014/main" id="{A0347D69-A3E8-44B9-977A-9065B9A1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14AF44-FF0B-481D-930B-D6426AE1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text-51">
            <a:extLst xmlns:a="http://schemas.openxmlformats.org/drawingml/2006/main">
              <a:ext uri="{FF2B5EF4-FFF2-40B4-BE49-F238E27FC236}">
                <a16:creationId xmlns:a16="http://schemas.microsoft.com/office/drawing/2014/main" id="{211E6345-EE12-4CDC-83A1-7D24B30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DBFC21C0-38CF-4B1B-82DC-76B12133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编码：量化值 → 码字</a:t>
            </a:r>
          </a:p>
        </p:txBody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FBE9F675-F707-4DB2-9A8A-7CAC0269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102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位深度：每像素 2 bit</a:t>
            </a:r>
          </a:p>
        </p:txBody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FC2D13BC-FB1B-4097-B2EB-E47151E9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809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</p:spTree>
    <p:extLst>
      <p:ext uri="{BB962C8B-B14F-4D97-AF65-F5344CB8AC3E}">
        <p14:creationId xmlns:p14="http://schemas.microsoft.com/office/powerpoint/2010/main" val="1983782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21188-C808-4A91-8E2A-89D5A1E0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7C2B7-8B86-4428-B831-E364B47F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A4F4D4E-D824-414A-B709-24FD6F29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怎样让数字花更接近原图？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200C4-117A-4BD5-9427-F6AAC986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C0E62-12F0-43D9-AB92-819CD5D6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A569D-BEAF-4299-ABBF-3B573619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A11F7-CCE7-4015-B797-DB95D3F3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91621-F730-4273-A5A1-CA3C47EA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F4E27-FA22-4FFA-8B9A-80FCFC2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FA3E4-42DD-45A6-B3C8-A8DDAB6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81F48-B20A-4611-B155-3A730781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EB314-1EE4-4CCA-96AC-88B0DD27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9C7D3-CAD2-43C2-AC8F-FA77728D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3F811-2614-4888-82E9-D4395F5E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06D97-948A-446A-92C2-8FBABF3D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605DFAD-8E16-4DA1-99CF-53A078F4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3×4 · 4色 · 2bit</a:t>
            </a:r>
          </a:p>
        </p:txBody>
      </p:sp>
    </p:spTree>
    <p:extLst>
      <p:ext uri="{BB962C8B-B14F-4D97-AF65-F5344CB8AC3E}">
        <p14:creationId xmlns:p14="http://schemas.microsoft.com/office/powerpoint/2010/main" val="2131918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A21188-C808-4A91-8E2A-89D5A1E0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7C2B7-8B86-4428-B831-E364B47F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A4F4D4E-D824-414A-B709-24FD6F29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怎样让数字花更接近原图？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200C4-117A-4BD5-9427-F6AAC986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C0E62-12F0-43D9-AB92-819CD5D6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A569D-BEAF-4299-ABBF-3B573619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A11F7-CCE7-4015-B797-DB95D3F3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91621-F730-4273-A5A1-CA3C47EA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F4E27-FA22-4FFA-8B9A-80FCFC2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FA3E4-42DD-45A6-B3C8-A8DDAB6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81F48-B20A-4611-B155-3A730781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EB314-1EE4-4CCA-96AC-88B0DD27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9C7D3-CAD2-43C2-AC8F-FA77728D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3F811-2614-4888-82E9-D4395F5E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06D97-948A-446A-92C2-8FBABF3D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605DFAD-8E16-4DA1-99CF-53A078F4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3×4 · 4色 · 2bit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AFA2E-FB9F-4A14-A124-17702FEA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2075D-C3F4-474B-9852-1133E064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955B20-3E60-4061-B08A-9D934733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0D472-6DB8-4BDE-B6A7-2B9F2B24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A4230-F387-4F80-B81E-BCCE1818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6FB8E-A16D-458A-810F-8456CBDB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14FFF-AE63-4E15-AAA3-832E6AD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6CAB9-AB04-48B8-866E-7D2DA26D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82F8E-EC67-4C99-A81D-EB183DA4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F858D-8BA2-4023-8FCE-77AF9B2E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1D7EE6-76A4-4B55-BB88-B13716B2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BFE098-F081-40F9-BD5B-A21FA766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C67B2E-38F8-4056-82FB-B621A681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C7C268-AEA2-4E77-9FBB-71813053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8FB1D-EEB1-4CBE-B0DB-1948E1BD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7CF34C-3CE9-4F6F-9CD5-DB4AC3B2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91F3D3-EF70-4518-BED5-6EEC8ADF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79E1C9-8024-40E8-ACF1-48859E93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F6E658-D2F8-4DEC-B02F-14DE1661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2526FA-D936-44BF-800A-F68A7B25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8C60D9-ADF5-46AC-9716-04DC9CC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D36206-554F-4F12-BBCC-A1761CC6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48F2A9-F5A8-4122-BE70-68CE6046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2BCA01-98B9-4DB9-9D5F-64178AF6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5EDEAC-9356-465F-9E4F-E935E2C8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8C0AC7-9B95-44BE-9072-9F9B97D9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73E47D-2741-43D9-B751-247EAE52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5F08D7-5F69-4F7B-B94B-D6977446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AC9C02-B92E-45C9-AD6C-983D5EB5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104FCE-D677-487C-ADBB-A68EA89E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EAC829-AAAE-4398-948A-023B0A7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34CACF-7778-4211-990E-0CEFB7A2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BB9974-908B-4C43-9ECA-F7DAD1BF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E0CE23-E65E-4E38-AB21-DE487878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975EB6-00B6-4E46-A247-39723AF8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8ECB07-3740-43D6-BFAE-8F2AD8AD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00D8A8-650A-4603-A5F1-0AE64B44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EE9ADB-E31A-494A-AED6-2A63BC72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FAF1CA-0A79-47C9-B8AA-CF7CAA1A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21E6F9-D5CB-4A00-9D60-305FCBD5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5E9F68-A25F-479A-A5A8-04B78384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9210B4-2DD8-401D-B467-F57A2375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413658-37C3-40FC-9D8E-200CD079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C8A88E-A502-4BC5-B774-AC4A20E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984783-5A67-4B85-81F1-EE5BDDB0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729F07-1845-4427-865A-3D855476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01369F-BFE6-4D70-BC34-23216E74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DE5043-074C-4438-AC31-A4676E4E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3E617DB8-19B8-4BA2-BB3B-0475D015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85787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6×8 · 4色 · 2bit</a:t>
            </a:r>
          </a:p>
        </p:txBody>
      </p:sp>
    </p:spTree>
    <p:extLst>
      <p:ext uri="{BB962C8B-B14F-4D97-AF65-F5344CB8AC3E}">
        <p14:creationId xmlns:p14="http://schemas.microsoft.com/office/powerpoint/2010/main" val="2131918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90DC42-F63F-4466-BD94-EACE054A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55715-2A79-4C55-B0E7-31380BF8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B71060E-FB5F-4C6B-91D2-AEACB231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第四行，怎样写成二进制？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85D3D-F23F-48C7-82DE-FF4E170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92182-85EB-4D44-9BF7-760F04A5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06526-EF12-4034-8479-16F8BE8C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7A010-0865-4522-91C0-599EAB5D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7D8D0-8D4A-4BAB-8DA6-E170180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81044-F222-4424-829B-2BDDEEAC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38DB0-A41F-458F-9DA0-AB4A659F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371E3-CACE-4481-8E17-4FF2E02F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7C7AF-2E44-4627-86BD-B3077901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C3C01-CBDC-4AD7-941B-132B734D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7EF3A-6F71-487A-8131-AE75D8D4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85DC8-CBDE-4BC6-825F-9906F879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532AE-130B-4CE1-A81D-E3EBD97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2D050-7061-4F6A-82BE-EA6C5A37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D1DC3-E0E5-445A-826F-AA384DA5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15AFF-1E38-4610-A0AE-3A8FBBEC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612D8-423B-48E1-8227-DA1E15FF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19B7A-368F-47AF-80A3-5DB6BA5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B7FAB-F19B-4655-9B3F-2A9DF095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4FADD-8915-40AC-95ED-A781AF6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891C0-D38C-4DCA-8AC9-1112884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5CABB-7F79-4AB0-A3BD-95263FF2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5403D-1F49-42DC-90E9-1E397532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3E0B12-6E35-48C4-9FBF-BB1EC75F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91B99-5225-47FA-BDD4-C8827435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CFF958-9563-466F-AAE9-6D25C9CE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DF320-46CA-45C1-918B-86DF6270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C1EFF-B102-4595-A6CA-1218105B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4EDD8-A5E3-4B1D-9C4D-E8148E91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292D90-6768-4854-AC00-40A4A59D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371A75-59E1-44C5-BCFB-8AB2B46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D7EF97-8A2A-463F-AE0A-BDE250E3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EF5A99-43C6-4E18-9E39-568D3D25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0E084E-8964-41B5-9BFD-98A3F45F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57F629-1EDA-4013-938D-047F110F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42BA0B-10C8-471B-BEA5-AF405A4A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C5A9B7-7A1D-4912-B4DA-4AC5D45F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2E2B49-7AA0-4EDE-B716-95F20A16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B22F75-8FC5-4A86-9E94-AD5714C2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434755-564F-413E-BD87-334E9C2B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005634-C9AD-411C-BA03-7AF46965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26762C-3555-422E-A204-A145BB42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CC2FC1-CA21-4092-8F7F-6D821F9F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F258C3-41F3-435A-B06F-3779C510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A192CC-F9B7-4690-8A14-236BE6CE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96FFE4-FD61-4ACD-ADF2-0B03262B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82E517-4D7A-4D92-A773-EAAFC401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FAA428-CB9D-4EAF-ACDA-7DFC9AC0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B6E6B5-E815-44E2-9ED0-7C7E0B4C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FDCAD7D8-5333-4BCA-A61C-4A28246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白00  红01  黄10  绿11</a:t>
            </a:r>
          </a:p>
        </p:txBody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AFFD3E88-8461-462F-B239-3B76016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从左到右读第四行</a:t>
            </a:r>
          </a:p>
        </p:txBody>
      </p:sp>
    </p:spTree>
    <p:extLst>
      <p:ext uri="{BB962C8B-B14F-4D97-AF65-F5344CB8AC3E}">
        <p14:creationId xmlns:p14="http://schemas.microsoft.com/office/powerpoint/2010/main" val="8605761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90DC42-F63F-4466-BD94-EACE054A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55715-2A79-4C55-B0E7-31380BF8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B71060E-FB5F-4C6B-91D2-AEACB231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第四行，怎样写成二进制？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85D3D-F23F-48C7-82DE-FF4E170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92182-85EB-4D44-9BF7-760F04A5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06526-EF12-4034-8479-16F8BE8C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7A010-0865-4522-91C0-599EAB5D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7D8D0-8D4A-4BAB-8DA6-E170180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81044-F222-4424-829B-2BDDEEAC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38DB0-A41F-458F-9DA0-AB4A659F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371E3-CACE-4481-8E17-4FF2E02F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7C7AF-2E44-4627-86BD-B3077901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C3C01-CBDC-4AD7-941B-132B734D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7EF3A-6F71-487A-8131-AE75D8D4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85DC8-CBDE-4BC6-825F-9906F879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532AE-130B-4CE1-A81D-E3EBD97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2D050-7061-4F6A-82BE-EA6C5A37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D1DC3-E0E5-445A-826F-AA384DA5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15AFF-1E38-4610-A0AE-3A8FBBEC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612D8-423B-48E1-8227-DA1E15FF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19B7A-368F-47AF-80A3-5DB6BA5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B7FAB-F19B-4655-9B3F-2A9DF095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4FADD-8915-40AC-95ED-A781AF6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891C0-D38C-4DCA-8AC9-1112884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5CABB-7F79-4AB0-A3BD-95263FF2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5403D-1F49-42DC-90E9-1E397532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3E0B12-6E35-48C4-9FBF-BB1EC75F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91B99-5225-47FA-BDD4-C8827435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CFF958-9563-466F-AAE9-6D25C9CE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DF320-46CA-45C1-918B-86DF6270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C1EFF-B102-4595-A6CA-1218105B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4EDD8-A5E3-4B1D-9C4D-E8148E91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292D90-6768-4854-AC00-40A4A59D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371A75-59E1-44C5-BCFB-8AB2B46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D7EF97-8A2A-463F-AE0A-BDE250E3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EF5A99-43C6-4E18-9E39-568D3D25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0E084E-8964-41B5-9BFD-98A3F45F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57F629-1EDA-4013-938D-047F110F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42BA0B-10C8-471B-BEA5-AF405A4A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C5A9B7-7A1D-4912-B4DA-4AC5D45F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2E2B49-7AA0-4EDE-B716-95F20A16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B22F75-8FC5-4A86-9E94-AD5714C2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434755-564F-413E-BD87-334E9C2B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005634-C9AD-411C-BA03-7AF46965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26762C-3555-422E-A204-A145BB42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CC2FC1-CA21-4092-8F7F-6D821F9F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F258C3-41F3-435A-B06F-3779C510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A192CC-F9B7-4690-8A14-236BE6CE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96FFE4-FD61-4ACD-ADF2-0B03262B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82E517-4D7A-4D92-A773-EAAFC401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FAA428-CB9D-4EAF-ACDA-7DFC9AC0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B6E6B5-E815-44E2-9ED0-7C7E0B4C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FDCAD7D8-5333-4BCA-A61C-4A28246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白00  红01  黄10  绿11</a:t>
            </a:r>
          </a:p>
        </p:txBody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AFFD3E88-8461-462F-B239-3B76016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从左到右读第四行</a:t>
            </a:r>
          </a:p>
        </p:txBody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B1CDD188-B057-426C-A982-277B42CD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01  01  10  10  01  01</a:t>
            </a:r>
          </a:p>
        </p:txBody>
      </p:sp>
      <p:sp>
        <p:nvSpPr>
          <p:cNvPr id="56" name="text-55">
            <a:extLst xmlns:a="http://schemas.openxmlformats.org/drawingml/2006/main">
              <a:ext uri="{FF2B5EF4-FFF2-40B4-BE49-F238E27FC236}">
                <a16:creationId xmlns:a16="http://schemas.microsoft.com/office/drawing/2014/main" id="{94F89DB9-2547-48E6-9BA9-AB738B71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6个像素，每个2bit，共12bit</a:t>
            </a:r>
          </a:p>
        </p:txBody>
      </p:sp>
    </p:spTree>
    <p:extLst>
      <p:ext uri="{BB962C8B-B14F-4D97-AF65-F5344CB8AC3E}">
        <p14:creationId xmlns:p14="http://schemas.microsoft.com/office/powerpoint/2010/main" val="8605761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19A35-F23D-4E6A-A458-FCE526CD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2B6D6-9B47-43D4-8A5F-346F555D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D87505-9C24-43B5-8C43-CF059D3E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9925405-03FB-44C4-B6EE-ABA13661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9BE85CC-0824-4BD3-96BB-9EF59292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B7334C2-D07B-4CB0-96F9-59892351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</p:spTree>
    <p:extLst>
      <p:ext uri="{BB962C8B-B14F-4D97-AF65-F5344CB8AC3E}">
        <p14:creationId xmlns:p14="http://schemas.microsoft.com/office/powerpoint/2010/main" val="6957796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319A35-F23D-4E6A-A458-FCE526CD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2B6D6-9B47-43D4-8A5F-346F555D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D87505-9C24-43B5-8C43-CF059D3E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9925405-03FB-44C4-B6EE-ABA13661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9BE85CC-0824-4BD3-96BB-9EF59292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B7334C2-D07B-4CB0-96F9-59892351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68B52-F30C-430D-A406-4BFC985D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35DA2-E25F-4A9D-9A7C-49931378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6D510-6A2E-484C-8736-4ADE8E75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EAE6B-9B53-4E43-9C8C-B2FF1699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E1B56-41D0-4E78-81AB-48FFAC3D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580BD-6B18-47A9-9F58-A2F92422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A5DBC-983D-456C-AE19-4764CA9A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79B70-BF6E-4918-AEDA-C1777E75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83E64-35F6-4956-B3BE-CF9366D8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8E233-2F71-43F2-8F6B-23C57826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4DD08-FECC-4D42-87E2-438E993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5C617-E043-4B99-9109-DDE4C28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1FC67-8AF3-4CDF-B579-728F4679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2E772-40FB-4AED-8806-3F7D2A8A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D0192-B124-4FB2-814C-327C8D4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61866-3FB6-4640-A25B-A00E4F2D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789A2-8F8A-4E49-BBA0-662F7958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95C7C-F41B-42C1-BBCF-5C6535E9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726E37-AC69-442F-8963-AE623E75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B58C5-22F2-417A-91AE-85F33600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7CC097-9B23-41A0-BD28-46F1E6D2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C5867-1043-44FB-B097-804EF4A7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E90AF1-DDE1-49CC-9472-380D7956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35A6D-8CCE-45DF-92D8-C2558C9B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0F968-1DC9-4BE3-AB43-B12E2986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D20C6C-F91B-4A1B-BBA8-B0101E11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29500" y="2905125"/>
            <a:ext cx="2000250" cy="2000250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8C64E1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57B2725A-9157-4F45-9A63-89F6BBC0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像素点阵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103BE5A2-D65C-4100-8269-271EA085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29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重新绘制边界</a:t>
            </a:r>
          </a:p>
        </p:txBody>
      </p:sp>
    </p:spTree>
    <p:extLst>
      <p:ext uri="{BB962C8B-B14F-4D97-AF65-F5344CB8AC3E}">
        <p14:creationId xmlns:p14="http://schemas.microsoft.com/office/powerpoint/2010/main" val="6957796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94B935-1FA0-4545-B37C-57940DDC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0912C-F21A-4777-B89B-D4FD2DDE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2796FC-168C-462B-A515-A9B18734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分辨率不变，还能怎样改进颜色？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98CB7-AC1D-4758-B68B-4D62A939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63B28-D95C-4A92-8AA2-61CDBCDD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E0F6F-B822-4EC6-86D5-EA66641E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DD1D1-C073-4ED9-B5E7-05A071CA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84D7E-9032-4BCA-A98A-596042FF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7BA4F-E6FB-4F41-85CF-462D9FA5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E52EE-3E94-42BD-AA57-3330DEA5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D5940-3879-4D74-9D56-B258FF8C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AC1BF-1102-4DAC-B160-E17BB67D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6E245-343B-4569-AAD5-F10C5EE0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0E881-DFB0-4EEF-8BEE-CE13EE4C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39BD5-F452-45FD-9EA5-1BF19413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C4122-D0A1-468A-A74D-96808605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9C3DA-2CEE-4BCB-BB20-5470722C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1DF3A-8449-44C1-A5CA-F3DDC384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6848A-DD42-433B-8175-26D41BFD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0DDEC-0CFA-428E-98FE-9578049E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1A3C3-0234-4141-98B2-BCD87F6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15308-5AFB-4F2E-B6CB-3511DCF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25247-87FA-4ACD-B365-3D1CCB0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86855-92B0-4930-8DE8-37B8458E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C1139-99BD-457F-B8F3-8C13460E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E7D75-8117-4F39-9BAD-A4A0E265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88D82-B840-4A95-9CB7-32AB3905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746F92-E3FB-40B2-A2A0-0A2592C2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33EFAD-1E9A-44AC-960F-179A16B7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A5000-566E-4A77-833E-FE2B36C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BE9ECD-EFDA-43FD-9A75-A1DB61C3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C2A5BE-4D52-4994-8C60-89165AE1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9E5E3-96AD-4216-9C88-EFC23BEC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532614-AD58-4B88-9389-3A9837A1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172A3B-21DA-4B69-A102-A8AFF53E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9C29A3-DEA6-498E-B9C1-7EDFC8A2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8E59EA-EF33-4078-A5E3-A28E076F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47ED49-8015-46CD-BCED-4A5EDA4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9854ED-EF5C-4CF4-BBF0-F06BCE73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73A064-95FF-4B85-BF2D-2DCA4D8E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24DEFA-4179-4DEF-AB7B-839601D0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969E4F-F564-47BD-A27C-84534C42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E2F42C-3B5D-4FAE-9DC7-9AFCBF55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93C254-975F-49F4-A2EF-292DAAA1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4F23C9-96C6-4A32-80F6-C1944076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5DCEF1-E94E-4DAE-A5F5-B9AF94BD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04F4BB-9FCD-4A17-BB1C-692D49D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589D2A-5AC8-4031-B33A-74570DDE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AE808F-6299-40F8-AEE5-845E3E7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9CC957-421C-4C68-8BF2-A895AE36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1CAF3B-6B8E-4BD0-8EDD-DC1BE80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text-51">
            <a:extLst xmlns:a="http://schemas.openxmlformats.org/drawingml/2006/main">
              <a:ext uri="{FF2B5EF4-FFF2-40B4-BE49-F238E27FC236}">
                <a16:creationId xmlns:a16="http://schemas.microsoft.com/office/drawing/2014/main" id="{FBC43C21-ACBE-40A0-9974-3911D345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6×8 · 4种颜色</a:t>
            </a:r>
          </a:p>
        </p:txBody>
      </p:sp>
    </p:spTree>
    <p:extLst>
      <p:ext uri="{BB962C8B-B14F-4D97-AF65-F5344CB8AC3E}">
        <p14:creationId xmlns:p14="http://schemas.microsoft.com/office/powerpoint/2010/main" val="8132135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C94B935-1FA0-4545-B37C-57940DDC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0912C-F21A-4777-B89B-D4FD2DDE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2796FC-168C-462B-A515-A9B18734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分辨率不变，还能怎样改进颜色？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98CB7-AC1D-4758-B68B-4D62A939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63B28-D95C-4A92-8AA2-61CDBCDD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E0F6F-B822-4EC6-86D5-EA66641E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DD1D1-C073-4ED9-B5E7-05A071CA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84D7E-9032-4BCA-A98A-596042FF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7BA4F-E6FB-4F41-85CF-462D9FA5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E52EE-3E94-42BD-AA57-3330DEA5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D5940-3879-4D74-9D56-B258FF8C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AC1BF-1102-4DAC-B160-E17BB67D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6E245-343B-4569-AAD5-F10C5EE0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0E881-DFB0-4EEF-8BEE-CE13EE4C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39BD5-F452-45FD-9EA5-1BF19413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C4122-D0A1-468A-A74D-96808605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9C3DA-2CEE-4BCB-BB20-5470722C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1DF3A-8449-44C1-A5CA-F3DDC384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6848A-DD42-433B-8175-26D41BFD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0DDEC-0CFA-428E-98FE-9578049E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1A3C3-0234-4141-98B2-BCD87F6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15308-5AFB-4F2E-B6CB-3511DCF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25247-87FA-4ACD-B365-3D1CCB0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86855-92B0-4930-8DE8-37B8458E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C1139-99BD-457F-B8F3-8C13460E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E7D75-8117-4F39-9BAD-A4A0E265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88D82-B840-4A95-9CB7-32AB3905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746F92-E3FB-40B2-A2A0-0A2592C2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33EFAD-1E9A-44AC-960F-179A16B7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A5000-566E-4A77-833E-FE2B36C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BE9ECD-EFDA-43FD-9A75-A1DB61C3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C2A5BE-4D52-4994-8C60-89165AE1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9E5E3-96AD-4216-9C88-EFC23BEC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532614-AD58-4B88-9389-3A9837A1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172A3B-21DA-4B69-A102-A8AFF53E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9C29A3-DEA6-498E-B9C1-7EDFC8A2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8E59EA-EF33-4078-A5E3-A28E076F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47ED49-8015-46CD-BCED-4A5EDA4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9854ED-EF5C-4CF4-BBF0-F06BCE73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73A064-95FF-4B85-BF2D-2DCA4D8E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24DEFA-4179-4DEF-AB7B-839601D0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969E4F-F564-47BD-A27C-84534C42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E2F42C-3B5D-4FAE-9DC7-9AFCBF55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93C254-975F-49F4-A2EF-292DAAA1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4F23C9-96C6-4A32-80F6-C1944076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5DCEF1-E94E-4DAE-A5F5-B9AF94BD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04F4BB-9FCD-4A17-BB1C-692D49D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589D2A-5AC8-4031-B33A-74570DDE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AE808F-6299-40F8-AEE5-845E3E7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9CC957-421C-4C68-8BF2-A895AE36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1CAF3B-6B8E-4BD0-8EDD-DC1BE80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text-51">
            <a:extLst xmlns:a="http://schemas.openxmlformats.org/drawingml/2006/main">
              <a:ext uri="{FF2B5EF4-FFF2-40B4-BE49-F238E27FC236}">
                <a16:creationId xmlns:a16="http://schemas.microsoft.com/office/drawing/2014/main" id="{FBC43C21-ACBE-40A0-9974-3911D345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6×8 · 4种颜色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AB1037-72F8-4591-9702-4D38A3D3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3737CF-30C1-4A4B-9285-4F8B8223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D13E82-06EB-41ED-BA50-BF6B2244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866216-8AAE-49AA-81D1-F274A55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302846-0A6D-4A0F-BACA-DD33088C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BFC82C-3E36-442F-8044-D8028A45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D12F8D-73F0-4573-9C84-B61D0405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F8A7FE-0C29-49AC-9AFB-D58C3579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888B8A-237D-4885-AA6C-5858C58B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8A899C-5CCD-45A0-9153-BE5D72C3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7EECE3-5247-473B-BFC2-C48AC90C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108936-ABB7-434B-9E46-59560C80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0E9543-BACB-44A4-9886-646AACDB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12B117-1285-4363-AF71-9E26676F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1960FA-241D-49A4-921E-33506511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835F67-FADB-4EC8-A195-6D05821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0B6F6F-1372-4E74-93A0-65B8233C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027F76-E43D-4489-9284-E52B3A21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1A7580-D462-44A9-9F0C-543A4656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360E714-01D8-454F-8984-997D1F4F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37414F-08C1-451F-B24A-D4BEE57D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DBB038-16D3-401E-A3D3-79F73BD9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14C404-0707-4F4E-890C-962D792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14FF33D-85C7-4747-855F-756AE7D4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D938FC1-E0A4-4F02-B573-3734CDCA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2A7973-891A-40E1-8D18-6ED5AB7F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BE6263B-EBB9-42B3-BFF8-11FF731C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467AE7A-5DDC-427A-9317-8B52D271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9B741AE-2273-462B-9E30-4814F952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8744AB-4B7E-4424-9DB4-CC916C6C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5D0F3AC-1B33-49A8-A395-BFFB3CF6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180BD99-B305-4010-983A-F43EA28A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037D5A5-6946-4B9D-8161-4392FEEC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F48DFA8-89C6-4472-97E8-8BF84D14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8D8095-7854-4230-B8AF-6D58AD37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BFECD6F-60EA-4C17-8777-15524127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062646E-8E1D-4BA9-83E1-21397F83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938E75E-C2F7-43C0-9595-D811E9F3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353B092-7C0E-400E-9737-51E8EAC0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255217E-6CF2-40E8-BE87-DDEFB625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360A7A7-DBE9-45E1-9F37-B67F6A64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53F7C36-ED8B-4D29-86AC-F074292E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822E4BB-5A78-468C-912C-65E23771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94A48AE-012B-4222-9374-54F4F7D9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F205419-4B44-4DE5-B18C-F07F3CD4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7C3E0BA-76B7-4DA8-BB38-A4CFF3EA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9579A78-1487-43E9-9926-1E9FA131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10328F4-9464-4EB2-B620-75D2AD9C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C426499D-87AD-4736-BD08-C4A65189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7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6×8 · 6种颜色</a:t>
            </a:r>
          </a:p>
        </p:txBody>
      </p:sp>
    </p:spTree>
    <p:extLst>
      <p:ext uri="{BB962C8B-B14F-4D97-AF65-F5344CB8AC3E}">
        <p14:creationId xmlns:p14="http://schemas.microsoft.com/office/powerpoint/2010/main" val="8132135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921E3-DCA9-4DB9-AAE9-9730B6B8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0C71B-1EE9-48ED-8826-02569815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4E3C46-7B1B-4332-B850-66AB7BED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BB6C9-AE2A-4358-A5E0-C651322F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0C116-75C2-492F-9D51-62BC6177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68AFE-0F2D-450F-92EA-5B779A77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94FDD-B6B8-463D-B541-BBD73A3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CDB7F-1807-4303-983B-4C60A905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7089C-FF29-4158-A802-7B02161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4B58B2E-11CC-4658-AAE5-0ACA6E7F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保持6×8个位置不变</a:t>
            </a:r>
          </a:p>
        </p:txBody>
      </p:sp>
    </p:spTree>
    <p:extLst>
      <p:ext uri="{BB962C8B-B14F-4D97-AF65-F5344CB8AC3E}">
        <p14:creationId xmlns:p14="http://schemas.microsoft.com/office/powerpoint/2010/main" val="8971290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921E3-DCA9-4DB9-AAE9-9730B6B8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0C71B-1EE9-48ED-8826-02569815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4E3C46-7B1B-4332-B850-66AB7BED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BB6C9-AE2A-4358-A5E0-C651322F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0C116-75C2-492F-9D51-62BC6177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68AFE-0F2D-450F-92EA-5B779A77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94FDD-B6B8-463D-B541-BBD73A3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CDB7F-1807-4303-983B-4C60A905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7089C-FF29-4158-A802-7B02161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4B58B2E-11CC-4658-AAE5-0ACA6E7F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保持6×8个位置不变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E36C134-B268-428F-89F7-B4E3EE84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38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 &lt; 6 ≤ 8 = 2³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B8D86C4-7974-45FC-81A4-4C505F60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最少3bit；8个码字中使用6个</a:t>
            </a:r>
          </a:p>
        </p:txBody>
      </p:sp>
    </p:spTree>
    <p:extLst>
      <p:ext uri="{BB962C8B-B14F-4D97-AF65-F5344CB8AC3E}">
        <p14:creationId xmlns:p14="http://schemas.microsoft.com/office/powerpoint/2010/main" val="8971290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61DAE09-48C6-4E1C-A656-614DE9F9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D7CD6-9B39-4D95-8CF2-6CE8C4F3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4EDA41-712C-4DAB-A373-084627D7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三轮花朵实验说明了什么？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91D66-917C-474F-99C0-C58526C2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A3BDA-49A7-4C92-ABB8-4034FF0F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5681E-1B9C-4000-8D31-D40D0760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31BEA-CB11-4BC5-99F8-D2962694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DF626-1CBE-4E2A-82E1-F9B3D713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2375C-CC62-425D-90B3-96358B70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2D479-A952-4029-8E3D-086682A9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598CB-F6E0-4066-9DA7-FE2D0A9C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FC6D4-E1E6-42D2-88EA-2396EE2D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D8587-00EA-46B3-A894-22048AC9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D201B-07B8-4899-AB2B-C98106E2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793B1-6637-4D83-8687-66E6FE7F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7FFE8-14D5-4B0A-A05D-AD4B7BE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6B45C-0E1D-4797-A1DC-8AE27C78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481B7-77A9-48F5-8D93-0D3FE28C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24A55-1311-4C03-AD8D-217DF9C7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C2728-91BF-4F86-9D07-8DFD175B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C3434-5C77-4927-A117-A5AC910B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6A230-AE94-49C2-9D5A-88C26E31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D8809-63FB-4ADC-A80D-A7873D64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F694A-6405-4FD7-B2F7-E3F127EC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516D9-BE2D-454B-8FB4-437DDF7D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4628A-5BF6-4DB1-B9CE-7F943BF5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D5F89-B4D1-46C3-AFD1-EBB52BA7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227B1-B7BC-4134-97CA-55F83AFD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4FA27A-034C-4517-B383-0956D804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AE903-2A5E-4595-AED4-2EEB5578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79842-D0C9-4ABF-AE22-4E24948E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7A7A2-CAA7-4FC9-9FB0-80B5544E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8D5551-8A3C-4D00-834E-8A64CA4F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E35753-9359-462F-9342-F72B820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73D3EA-EA65-4B30-8775-2BD9CE8E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54BFF3-A5B9-4A29-AC25-A537D9F0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077EEF-BBB9-4815-8638-62B21A45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03CF2D-DE54-4D1B-919F-D1EC50A5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A961B2-3EFB-468D-A544-294E23CF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7C7D92-65CE-49FA-9A7F-D4B64797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96BEC2-C30F-495A-98C6-AD96ECD1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1542E1-0E24-498D-91D4-3841B27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1B2077-6801-4ACD-965B-218E0AFD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DC8300-3C5A-48B8-AF20-78D0F6DA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696F11-919B-4E26-B606-0A3F5CC0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2DAB95-F5D8-4ED9-93EE-645C4426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40011F-906C-4070-9819-D4BDE3D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259978-DA2A-4222-B237-FB5D26A6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5CEC47-0A17-4711-A03C-F85BA744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7AD94A-F5B7-4CF3-9E87-5E8D66A1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4D7D03-7574-4BFF-B62B-E5B63F6E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62DABA-207E-42F9-A5F3-91B23BC0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8D3EAB-0786-48DC-9BB7-3ED4D079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608438-DFFB-41B6-AB17-E716E14C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FE47D8-F33D-4A0A-89A1-427C4E76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A1CCE7-8E99-4758-ACE8-F3BA344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891071-ECD7-4229-8DE2-7BF574BA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D1AA7F-F09A-41AB-9065-48912E3D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360605-DD62-4667-804D-E41C2905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C5E7CC-F257-44BF-A7AC-A770FA1D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F2A20A-3926-489A-8705-D414016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00A878-2DBA-4BC1-850C-029F4E6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0FD8F8-BEFF-4F3F-AD45-93BFC53D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E769D0-1F07-4C98-AB7E-3404E0B2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678CD3-88DA-44A0-9ED3-027942CD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D2EF8D-748F-496B-98DF-78F84839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D193EF-374A-4987-82E9-DB2D2995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39AED7-DD0D-41FB-BDFF-5CD1D48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8DE7A9-31C4-494A-9F64-5067786B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020AA0-D94F-431F-A5F3-5F2B2D75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3F8B6C-C37A-4DF3-AEAF-B9025E51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E01FC7-43B2-4488-A598-CA4D54AB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79A42B-A700-48F6-BE13-8749C4AF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EBC6D49-8D23-4221-8710-E03E477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5DA8721-45D7-4331-90A3-0D7A6AE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9C9733F-791B-493C-BD17-4ADD1D99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EE97687-8DED-4884-BD16-C540CEF7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A5377D3-CAE9-47CB-801D-94B55C56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EF3865-4049-473C-923F-4218DF30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4A4C36B-56C7-473F-8EF8-6E7F3059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928AF02-B689-4AB9-88FB-942CDEE3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C0995A-3D20-4D29-A063-3FE4A7A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359D8C9-44AC-4F43-AA77-B82D12BD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F54830-4B21-4474-9D5A-BF81495A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E109AAC-17D3-47C2-B0D9-16AA3164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CCE438-D5EB-4C5A-A05E-BA5E4651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9E594C9-5745-41C9-B435-74887A43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4343D1-B632-4DCD-9B4C-92C8707B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9F29D89-C0A7-47FC-814C-169D1755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591D442-BDD8-4815-9EB2-44D4C041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BD0A2C7-636D-46E6-980F-DF74E3EF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98E5B2C-C8D9-4AE9-A571-54E61D86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887E8CC-2691-4952-8A13-7BCBECDF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BCB483B-0FEF-4976-B598-BFF05949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BEFAC5-2664-49AC-8A5D-AD26520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C780AC-CCD1-4571-ADFE-A26EE5EA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FE646DC-9815-4714-82F1-BDADE7BD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49F9F34-ED45-455A-A9C9-D1150CE5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ABB6F3A-21C9-4C86-BF49-FA0FC56B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94381EE-6DAB-480D-AFEF-10E4E6D4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29891CD-2D54-4D1B-AACA-67F23B14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42E7601-290B-4C59-8385-BAB412C6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098EFA1-064A-4758-A27D-9989C7B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6A7015B-942C-42A7-88B2-5539247C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2FD946E-D832-4A2C-9D26-0714A239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6A1F23-FAFB-4431-ABA6-0CBCFF90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7ADF844-F95F-41FD-88AE-10B127F7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D77C59B-AF69-4FAD-9AF2-6661CEC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0DC8B19-4074-4561-B550-D2FC1B18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38BDD42-74C6-4A65-9766-6BC03953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78FE325-5915-4160-B9FF-6C5F1315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text-111">
            <a:extLst xmlns:a="http://schemas.openxmlformats.org/drawingml/2006/main">
              <a:ext uri="{FF2B5EF4-FFF2-40B4-BE49-F238E27FC236}">
                <a16:creationId xmlns:a16="http://schemas.microsoft.com/office/drawing/2014/main" id="{ECA2C199-8A16-4450-A511-DD39EEFC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编码三步：</a:t>
            </a:r>
          </a:p>
        </p:txBody>
      </p:sp>
      <p:sp>
        <p:nvSpPr>
          <p:cNvPr id="113" name="flow-blanks">
            <a:extLst xmlns:a="http://schemas.openxmlformats.org/drawingml/2006/main">
              <a:ext uri="{FF2B5EF4-FFF2-40B4-BE49-F238E27FC236}">
                <a16:creationId xmlns:a16="http://schemas.microsoft.com/office/drawing/2014/main" id="{9DA87191-7ED1-485D-9EC7-FD93D88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______  ② ______  ③ ______</a:t>
            </a:r>
          </a:p>
        </p:txBody>
      </p:sp>
      <p:sp>
        <p:nvSpPr>
          <p:cNvPr id="114" name="text-113">
            <a:extLst xmlns:a="http://schemas.openxmlformats.org/drawingml/2006/main">
              <a:ext uri="{FF2B5EF4-FFF2-40B4-BE49-F238E27FC236}">
                <a16:creationId xmlns:a16="http://schemas.microsoft.com/office/drawing/2014/main" id="{B2EB061E-44AE-4E56-B204-4AC7003D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1902996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61DAE09-48C6-4E1C-A656-614DE9F9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D7CD6-9B39-4D95-8CF2-6CE8C4F3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4EDA41-712C-4DAB-A373-084627D7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三轮花朵实验说明了什么？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91D66-917C-474F-99C0-C58526C2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A3BDA-49A7-4C92-ABB8-4034FF0F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5681E-1B9C-4000-8D31-D40D0760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31BEA-CB11-4BC5-99F8-D2962694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DF626-1CBE-4E2A-82E1-F9B3D713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2375C-CC62-425D-90B3-96358B70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2D479-A952-4029-8E3D-086682A9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598CB-F6E0-4066-9DA7-FE2D0A9C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FC6D4-E1E6-42D2-88EA-2396EE2D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D8587-00EA-46B3-A894-22048AC9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D201B-07B8-4899-AB2B-C98106E2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793B1-6637-4D83-8687-66E6FE7F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7FFE8-14D5-4B0A-A05D-AD4B7BE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6B45C-0E1D-4797-A1DC-8AE27C78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481B7-77A9-48F5-8D93-0D3FE28C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24A55-1311-4C03-AD8D-217DF9C7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C2728-91BF-4F86-9D07-8DFD175B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C3434-5C77-4927-A117-A5AC910B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6A230-AE94-49C2-9D5A-88C26E31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D8809-63FB-4ADC-A80D-A7873D64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F694A-6405-4FD7-B2F7-E3F127EC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516D9-BE2D-454B-8FB4-437DDF7D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4628A-5BF6-4DB1-B9CE-7F943BF5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D5F89-B4D1-46C3-AFD1-EBB52BA7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227B1-B7BC-4134-97CA-55F83AFD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4FA27A-034C-4517-B383-0956D804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AE903-2A5E-4595-AED4-2EEB5578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79842-D0C9-4ABF-AE22-4E24948E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7A7A2-CAA7-4FC9-9FB0-80B5544E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8D5551-8A3C-4D00-834E-8A64CA4F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E35753-9359-462F-9342-F72B820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73D3EA-EA65-4B30-8775-2BD9CE8E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54BFF3-A5B9-4A29-AC25-A537D9F0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077EEF-BBB9-4815-8638-62B21A45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03CF2D-DE54-4D1B-919F-D1EC50A5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A961B2-3EFB-468D-A544-294E23CF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7C7D92-65CE-49FA-9A7F-D4B64797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96BEC2-C30F-495A-98C6-AD96ECD1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1542E1-0E24-498D-91D4-3841B27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1B2077-6801-4ACD-965B-218E0AFD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DC8300-3C5A-48B8-AF20-78D0F6DA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696F11-919B-4E26-B606-0A3F5CC0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2DAB95-F5D8-4ED9-93EE-645C4426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40011F-906C-4070-9819-D4BDE3D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259978-DA2A-4222-B237-FB5D26A6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5CEC47-0A17-4711-A03C-F85BA744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7AD94A-F5B7-4CF3-9E87-5E8D66A1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4D7D03-7574-4BFF-B62B-E5B63F6E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62DABA-207E-42F9-A5F3-91B23BC0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8D3EAB-0786-48DC-9BB7-3ED4D079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608438-DFFB-41B6-AB17-E716E14C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FE47D8-F33D-4A0A-89A1-427C4E76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A1CCE7-8E99-4758-ACE8-F3BA344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891071-ECD7-4229-8DE2-7BF574BA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D1AA7F-F09A-41AB-9065-48912E3D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360605-DD62-4667-804D-E41C2905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C5E7CC-F257-44BF-A7AC-A770FA1D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F2A20A-3926-489A-8705-D414016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00A878-2DBA-4BC1-850C-029F4E6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0FD8F8-BEFF-4F3F-AD45-93BFC53D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E769D0-1F07-4C98-AB7E-3404E0B2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678CD3-88DA-44A0-9ED3-027942CD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D2EF8D-748F-496B-98DF-78F84839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D193EF-374A-4987-82E9-DB2D2995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39AED7-DD0D-41FB-BDFF-5CD1D48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8DE7A9-31C4-494A-9F64-5067786B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020AA0-D94F-431F-A5F3-5F2B2D75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3F8B6C-C37A-4DF3-AEAF-B9025E51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E01FC7-43B2-4488-A598-CA4D54AB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79A42B-A700-48F6-BE13-8749C4AF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EBC6D49-8D23-4221-8710-E03E477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5DA8721-45D7-4331-90A3-0D7A6AE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9C9733F-791B-493C-BD17-4ADD1D99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EE97687-8DED-4884-BD16-C540CEF7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A5377D3-CAE9-47CB-801D-94B55C56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EF3865-4049-473C-923F-4218DF30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4A4C36B-56C7-473F-8EF8-6E7F3059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928AF02-B689-4AB9-88FB-942CDEE3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C0995A-3D20-4D29-A063-3FE4A7A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359D8C9-44AC-4F43-AA77-B82D12BD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F54830-4B21-4474-9D5A-BF81495A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E109AAC-17D3-47C2-B0D9-16AA3164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CCE438-D5EB-4C5A-A05E-BA5E4651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9E594C9-5745-41C9-B435-74887A43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4343D1-B632-4DCD-9B4C-92C8707B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9F29D89-C0A7-47FC-814C-169D1755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591D442-BDD8-4815-9EB2-44D4C041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BD0A2C7-636D-46E6-980F-DF74E3EF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98E5B2C-C8D9-4AE9-A571-54E61D86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887E8CC-2691-4952-8A13-7BCBECDF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BCB483B-0FEF-4976-B598-BFF05949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BEFAC5-2664-49AC-8A5D-AD26520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C780AC-CCD1-4571-ADFE-A26EE5EA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FE646DC-9815-4714-82F1-BDADE7BD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49F9F34-ED45-455A-A9C9-D1150CE5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ABB6F3A-21C9-4C86-BF49-FA0FC56B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94381EE-6DAB-480D-AFEF-10E4E6D4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29891CD-2D54-4D1B-AACA-67F23B14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42E7601-290B-4C59-8385-BAB412C6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098EFA1-064A-4758-A27D-9989C7B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6A7015B-942C-42A7-88B2-5539247C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2FD946E-D832-4A2C-9D26-0714A239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6A1F23-FAFB-4431-ABA6-0CBCFF90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7ADF844-F95F-41FD-88AE-10B127F7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D77C59B-AF69-4FAD-9AF2-6661CEC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0DC8B19-4074-4561-B550-D2FC1B18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38BDD42-74C6-4A65-9766-6BC03953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78FE325-5915-4160-B9FF-6C5F1315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text-111">
            <a:extLst xmlns:a="http://schemas.openxmlformats.org/drawingml/2006/main">
              <a:ext uri="{FF2B5EF4-FFF2-40B4-BE49-F238E27FC236}">
                <a16:creationId xmlns:a16="http://schemas.microsoft.com/office/drawing/2014/main" id="{ECA2C199-8A16-4450-A511-DD39EEFC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编码三步：</a:t>
            </a:r>
          </a:p>
        </p:txBody>
      </p:sp>
      <p:sp>
        <p:nvSpPr>
          <p:cNvPr id="113" name="flow-blanks">
            <a:extLst xmlns:a="http://schemas.openxmlformats.org/drawingml/2006/main">
              <a:ext uri="{FF2B5EF4-FFF2-40B4-BE49-F238E27FC236}">
                <a16:creationId xmlns:a16="http://schemas.microsoft.com/office/drawing/2014/main" id="{9DA87191-7ED1-485D-9EC7-FD93D88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     ② 量化     ③ 编码</a:t>
            </a:r>
          </a:p>
        </p:txBody>
      </p:sp>
      <p:sp>
        <p:nvSpPr>
          <p:cNvPr id="114" name="text-113">
            <a:extLst xmlns:a="http://schemas.openxmlformats.org/drawingml/2006/main">
              <a:ext uri="{FF2B5EF4-FFF2-40B4-BE49-F238E27FC236}">
                <a16:creationId xmlns:a16="http://schemas.microsoft.com/office/drawing/2014/main" id="{B2EB061E-44AE-4E56-B204-4AC7003D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8CEBDF78-0237-4F7F-ADC4-75A862A4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格子更小，空间细节表达更细</a:t>
            </a:r>
          </a:p>
        </p:txBody>
      </p:sp>
    </p:spTree>
    <p:extLst>
      <p:ext uri="{BB962C8B-B14F-4D97-AF65-F5344CB8AC3E}">
        <p14:creationId xmlns:p14="http://schemas.microsoft.com/office/powerpoint/2010/main" val="1902996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36059-6277-4D83-96BD-23375586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E35E3-14DC-4BBD-B556-67925BA2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4C6FE1E-28E7-4820-B29B-F25E2368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ABBEFF4-83AB-48CF-883D-62F2A1FF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725486F7-C13E-4D12-A690-5BBF41A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位深度：______ → ______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0EE20B9-AA78-4A15-BAE0-7EDE1A5F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F4D94943-ACCD-4815-8E45-79E870DF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______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9240F84-383B-470B-8161-D2C7AE0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14406394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36059-6277-4D83-96BD-23375586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E35E3-14DC-4BBD-B556-67925BA2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4C6FE1E-28E7-4820-B29B-F25E2368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ABBEFF4-83AB-48CF-883D-62F2A1FF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725486F7-C13E-4D12-A690-5BBF41A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位深度：2 bit → 3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0EE20B9-AA78-4A15-BAE0-7EDE1A5F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F4D94943-ACCD-4815-8E45-79E870DF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2ⁿ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9240F84-383B-470B-8161-D2C7AE0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14406394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D49DF-A1B4-4DFD-A228-C5D9E76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95ED3-4FE3-4265-979C-FA0F6CC7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8F9E58-E12E-4175-996C-29203E14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同一场景，照片大小为什么不同？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3×4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7917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D49DF-A1B4-4DFD-A228-C5D9E761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95ED3-4FE3-4265-979C-FA0F6CC7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8F9E58-E12E-4175-996C-29203E14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同一场景，照片大小为什么不同？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3×4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3×4×2 = 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6×8×2 = 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6×8×3 = 144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AA1D80D-6A21-478B-84D9-A646590C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总bit = 像素总数 × 每像素的位数</a:t>
            </a:r>
          </a:p>
        </p:txBody>
      </p:sp>
    </p:spTree>
    <p:extLst>
      <p:ext uri="{BB962C8B-B14F-4D97-AF65-F5344CB8AC3E}">
        <p14:creationId xmlns:p14="http://schemas.microsoft.com/office/powerpoint/2010/main" val="15417917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4512A-B5B9-4BA5-A972-0A77D7BA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23F52-1E27-4CB0-BAAA-3D51C607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E778FA-2877-4799-B413-34E6B885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F09AD99-F153-4CD9-B285-2C2D5C07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804A0CC7-A3EF-496D-BAE2-015AE81D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 bit → ___ B    96 bit → ___ B    144 bit → ___ B</a:t>
            </a:r>
          </a:p>
        </p:txBody>
      </p:sp>
    </p:spTree>
    <p:extLst>
      <p:ext uri="{BB962C8B-B14F-4D97-AF65-F5344CB8AC3E}">
        <p14:creationId xmlns:p14="http://schemas.microsoft.com/office/powerpoint/2010/main" val="119454645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4512A-B5B9-4BA5-A972-0A77D7BA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23F52-1E27-4CB0-BAAA-3D51C607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E778FA-2877-4799-B413-34E6B885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F09AD99-F153-4CD9-B285-2C2D5C07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804A0CC7-A3EF-496D-BAE2-015AE81D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24 bit → 3 B       96 bit → 12 B       144 bit → 18 B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CD93846-9904-4F91-A6D5-D3101961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像素数据量（B）= 横向×纵向×位深度÷8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3C5D69D-1E56-48E5-A060-28284DB3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 ÷1024 = KiB       KiB ÷1024 = MiB</a:t>
            </a:r>
          </a:p>
        </p:txBody>
      </p:sp>
    </p:spTree>
    <p:extLst>
      <p:ext uri="{BB962C8B-B14F-4D97-AF65-F5344CB8AC3E}">
        <p14:creationId xmlns:p14="http://schemas.microsoft.com/office/powerpoint/2010/main" val="119454645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D4A25-AF39-4D83-B828-DFE1505B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0AD8E-41CE-4128-BCC7-E6105D8B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B7086F-BBC3-4808-A360-43CE2891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A6DEACF-205D-44C1-BDE7-F9B754F4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16101978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D4A25-AF39-4D83-B828-DFE1505B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0AD8E-41CE-4128-BCC7-E6105D8B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B7086F-BBC3-4808-A360-43CE2891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M×N×1÷8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M×N×8÷8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A6DEACF-205D-44C1-BDE7-F9B754F4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16101978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E7FB1-D297-41D1-B7F5-EAE7783B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09808-9880-43A3-9D64-2D3DCA7A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3214D7-1C92-4E90-BAF0-FBB6C912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9515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E7FB1-D297-41D1-B7F5-EAE7783B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09808-9880-43A3-9D64-2D3DCA7A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3214D7-1C92-4E90-BAF0-FBB6C912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2²⁴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M×N×24÷8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95158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67486-A802-460D-936E-6E98EB03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F74A6-CD3C-4BB5-853D-8A451B06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00D288-5D0D-4C98-B069-BB3F168B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5FDBF5F-06B6-4591-844C-5A608983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018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E01826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937B167-4FF5-426C-8803-BC752B72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A2B0A6-C317-46E9-AFD2-708EA025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81A03F2-6A1D-4F21-822A-4B5E40EE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C73B012-5313-45FA-AEE1-526FDFBD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4F8716F-D6FD-473E-8EEC-7EE4BF0A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23747461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67486-A802-460D-936E-6E98EB03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F74A6-CD3C-4BB5-853D-8A451B06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00D288-5D0D-4C98-B069-BB3F168B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5FDBF5F-06B6-4591-844C-5A608983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018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E01826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937B167-4FF5-426C-8803-BC752B72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A2B0A6-C317-46E9-AFD2-708EA025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81A03F2-6A1D-4F21-822A-4B5E40EE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C73B012-5313-45FA-AEE1-526FDFBD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4F8716F-D6FD-473E-8EEC-7EE4BF0A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6CEFB0A-5920-481D-B7C6-95BE2C07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每通道256级，取值0–255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D38768A-F85F-4368-92A8-E4B55178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8×3 = 24 bit       256³ = 2²⁴ 种</a:t>
            </a:r>
          </a:p>
        </p:txBody>
      </p:sp>
    </p:spTree>
    <p:extLst>
      <p:ext uri="{BB962C8B-B14F-4D97-AF65-F5344CB8AC3E}">
        <p14:creationId xmlns:p14="http://schemas.microsoft.com/office/powerpoint/2010/main" val="23747461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CC86E-00F0-458A-AE06-F69F68DB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2ABB9-29AB-4C54-AD09-67B409E6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407EEE-5F3A-4F8A-8B27-683F3964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 RGB 像素真正保存了什么？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8341e7f154163"/>
          <a:srcRect xmlns:a="http://schemas.openxmlformats.org/drawingml/2006/main" l="0" t="6000" r="35000" b="0"/>
          <a:stretch xmlns:a="http://schemas.openxmlformats.org/drawingml/2006/main"/>
        </p:blipFill>
        <p:spPr>
          <a:xfrm xmlns:a="http://schemas.openxmlformats.org/drawingml/2006/main">
            <a:off x="762000" y="2238375"/>
            <a:ext cx="51435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5A81CCE-A9C1-49D3-9E2E-FC3925E6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 = 220    G = 95    B = 15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DE483E3-00F5-4FF9-A248-5C7994C2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在计算机里怎样表示？</a:t>
            </a:r>
          </a:p>
        </p:txBody>
      </p:sp>
    </p:spTree>
    <p:extLst>
      <p:ext uri="{BB962C8B-B14F-4D97-AF65-F5344CB8AC3E}">
        <p14:creationId xmlns:p14="http://schemas.microsoft.com/office/powerpoint/2010/main" val="19082409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CC86E-00F0-458A-AE06-F69F68DB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2ABB9-29AB-4C54-AD09-67B409E6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407EEE-5F3A-4F8A-8B27-683F3964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 RGB 像素真正保存了什么？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b9e8e9d504efd"/>
          <a:srcRect xmlns:a="http://schemas.openxmlformats.org/drawingml/2006/main" l="0" t="6000" r="35000" b="0"/>
          <a:stretch xmlns:a="http://schemas.openxmlformats.org/drawingml/2006/main"/>
        </p:blipFill>
        <p:spPr>
          <a:xfrm xmlns:a="http://schemas.openxmlformats.org/drawingml/2006/main">
            <a:off x="762000" y="2238375"/>
            <a:ext cx="51435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5A81CCE-A9C1-49D3-9E2E-FC3925E6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 = 220    G = 95    B = 15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DE483E3-00F5-4FF9-A248-5C7994C2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在计算机里怎样表示？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17D0D38-B7E4-4212-8F4B-2B24BC18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R  11011100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C2F12C3-05C7-4195-AFD2-F93A31C9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G  01011111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F6D2610-7E61-4E25-9F51-BC965122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  00001111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B04ABCA-F101-476A-96E7-419C7DB5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10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24 bit = 3 bytes</a:t>
            </a:r>
          </a:p>
        </p:txBody>
      </p:sp>
    </p:spTree>
    <p:extLst>
      <p:ext uri="{BB962C8B-B14F-4D97-AF65-F5344CB8AC3E}">
        <p14:creationId xmlns:p14="http://schemas.microsoft.com/office/powerpoint/2010/main" val="19082409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949BD-6076-47CD-BC2B-E7D92C58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8558B-3F98-43D2-843E-BC1DEE93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A8E2AAA-3159-47C8-9CD7-E880B27C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9489157-AEAD-4188-A2C2-38903A7A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500×333像素；每像素24bit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0DC4C10-31A0-414C-8ECB-FE38A08C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</p:spTree>
    <p:extLst>
      <p:ext uri="{BB962C8B-B14F-4D97-AF65-F5344CB8AC3E}">
        <p14:creationId xmlns:p14="http://schemas.microsoft.com/office/powerpoint/2010/main" val="49764766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949BD-6076-47CD-BC2B-E7D92C58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8558B-3F98-43D2-843E-BC1DEE93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A8E2AAA-3159-47C8-9CD7-E880B27C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9489157-AEAD-4188-A2C2-38903A7A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500×333像素；每像素24bit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0DC4C10-31A0-414C-8ECB-FE38A08C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8A619FE-418E-470F-B61E-EDA8D123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500 × 333 × 24 ÷ 8 = 499,500 B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30B3137-D895-4C5F-9784-3B91ECCE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499,500 ÷ 1024 ≈ 487.79 KiB</a:t>
            </a:r>
          </a:p>
        </p:txBody>
      </p:sp>
    </p:spTree>
    <p:extLst>
      <p:ext uri="{BB962C8B-B14F-4D97-AF65-F5344CB8AC3E}">
        <p14:creationId xmlns:p14="http://schemas.microsoft.com/office/powerpoint/2010/main" val="49764766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C5BF6-7D44-40E2-808E-4B746175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EF077-4127-42AD-8DE2-8F18A80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B5CC1C-9F76-4FF4-9265-BCD68202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公式计算的是像素数据量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6ED9B76-8D34-4929-AAE3-DAA74A63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计算：499,500 B ≈ 487.79 KiB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e31f5cfcd4560"/>
          <a:stretch xmlns:a="http://schemas.openxmlformats.org/drawingml/2006/main"/>
        </p:blipFill>
        <p:spPr>
          <a:xfrm xmlns:a="http://schemas.openxmlformats.org/drawingml/2006/main">
            <a:off x="866775" y="2762250"/>
            <a:ext cx="5695950" cy="309562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64DA47B-167F-4CDD-B05D-2B4BDC1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433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文件属性：487 KB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8DB154F-2B03-48C3-8150-DAFDC1B3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62375"/>
            <a:ext cx="433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文件还可能包含</a:t>
            </a:r>
          </a:p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头部、调色板、行填充。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CE4B495-E726-4D22-BCC1-544C431F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81625"/>
            <a:ext cx="433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像素数据量 ≠ 完整文件大小</a:t>
            </a:r>
          </a:p>
        </p:txBody>
      </p:sp>
    </p:spTree>
    <p:extLst>
      <p:ext uri="{BB962C8B-B14F-4D97-AF65-F5344CB8AC3E}">
        <p14:creationId xmlns:p14="http://schemas.microsoft.com/office/powerpoint/2010/main" val="8961258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6523F-300D-4B5C-9A31-1EEFF05A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B65CF-437A-4494-9E42-93EE93E7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C0C7AA-0C5F-4981-AFEC-D44C077E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照片放大为什么会糊？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1ad068c5f447b"/>
          <a:stretch xmlns:a="http://schemas.openxmlformats.org/drawingml/2006/main"/>
        </p:blipFill>
        <p:spPr>
          <a:xfrm xmlns:a="http://schemas.openxmlformats.org/drawingml/2006/main">
            <a:off x="1100943" y="1905000"/>
            <a:ext cx="2846364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30CB7EA-79A6-4E98-A184-93602B71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拍摄时提高分辨率，和拍好后放大一样吗？</a:t>
            </a:r>
          </a:p>
        </p:txBody>
      </p:sp>
    </p:spTree>
    <p:extLst>
      <p:ext uri="{BB962C8B-B14F-4D97-AF65-F5344CB8AC3E}">
        <p14:creationId xmlns:p14="http://schemas.microsoft.com/office/powerpoint/2010/main" val="130791850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6523F-300D-4B5C-9A31-1EEFF05A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B65CF-437A-4494-9E42-93EE93E7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C0C7AA-0C5F-4981-AFEC-D44C077E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照片放大为什么会糊？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c184bab454744"/>
          <a:stretch xmlns:a="http://schemas.openxmlformats.org/drawingml/2006/main"/>
        </p:blipFill>
        <p:spPr>
          <a:xfrm xmlns:a="http://schemas.openxmlformats.org/drawingml/2006/main">
            <a:off x="1100943" y="1905000"/>
            <a:ext cx="2846364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30CB7EA-79A6-4E98-A184-93602B71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拍摄时提高分辨率，和拍好后放大一样吗？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739ACF4-8FD2-46EC-B791-A5617EAF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已有像素被放大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70C96A7-221B-45B4-AD2C-27FC560F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放大不增加原始细节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6A210D3-9F99-4AEC-912F-E4119A84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拍摄时适当提高分辨率</a:t>
            </a:r>
          </a:p>
        </p:txBody>
      </p:sp>
    </p:spTree>
    <p:extLst>
      <p:ext uri="{BB962C8B-B14F-4D97-AF65-F5344CB8AC3E}">
        <p14:creationId xmlns:p14="http://schemas.microsoft.com/office/powerpoint/2010/main" val="130791850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BCDE5-751F-4290-AE54-18CC8B03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F09C4-0683-43BD-A3EE-C3EC5B9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E3E6FF-F558-417A-A139-9A508F15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a0af27be04f47"/>
          <a:srcRect xmlns:a="http://schemas.openxmlformats.org/drawingml/2006/main" l="2000" t="2000" r="16000" b="50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466725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68F5A50-9EED-4CF5-9C9A-D433BC30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缺损处可以根据什么来推断？</a:t>
            </a:r>
          </a:p>
        </p:txBody>
      </p:sp>
    </p:spTree>
    <p:extLst>
      <p:ext uri="{BB962C8B-B14F-4D97-AF65-F5344CB8AC3E}">
        <p14:creationId xmlns:p14="http://schemas.microsoft.com/office/powerpoint/2010/main" val="150877161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BCDE5-751F-4290-AE54-18CC8B03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F09C4-0683-43BD-A3EE-C3EC5B9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E3E6FF-F558-417A-A139-9A508F15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8050a032145ab"/>
          <a:srcRect xmlns:a="http://schemas.openxmlformats.org/drawingml/2006/main" l="2000" t="2000" r="16000" b="50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466725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68F5A50-9EED-4CF5-9C9A-D433BC30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缺损处可以根据什么来推断？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7e4ff77b84452"/>
          <a:srcRect xmlns:a="http://schemas.openxmlformats.org/drawingml/2006/main" l="50000" t="16000" r="5000" b="0"/>
          <a:stretch xmlns:a="http://schemas.openxmlformats.org/drawingml/2006/main"/>
        </p:blipFill>
        <p:spPr>
          <a:xfrm xmlns:a="http://schemas.openxmlformats.org/drawingml/2006/main">
            <a:off x="6667500" y="2143125"/>
            <a:ext cx="3905250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D172ACE6-A3EC-4AD2-8975-037170AF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修复结果（示例）</a:t>
            </a:r>
          </a:p>
        </p:txBody>
      </p:sp>
    </p:spTree>
    <p:extLst>
      <p:ext uri="{BB962C8B-B14F-4D97-AF65-F5344CB8AC3E}">
        <p14:creationId xmlns:p14="http://schemas.microsoft.com/office/powerpoint/2010/main" val="150877161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048E3-BAA6-448F-815A-4507CE29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69360-09AB-49A3-98BE-593072DE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A18FC2-8F2B-46B2-971F-B567C751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用四步理解照片修复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CF1284D-C668-4C87-9F31-E6FF3046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识别：区分破损与完好区域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9673BF-5D58-41E4-A596-9D06CB2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匹配：利用周边内容和图像规律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F58894F-0A45-4B7B-8462-CE29A1E4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补全：推断缺损处的像素内容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23C6885-D618-4CAF-891F-F2651718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表示：得到颜色数据并编码保存</a:t>
            </a:r>
          </a:p>
        </p:txBody>
      </p:sp>
    </p:spTree>
    <p:extLst>
      <p:ext uri="{BB962C8B-B14F-4D97-AF65-F5344CB8AC3E}">
        <p14:creationId xmlns:p14="http://schemas.microsoft.com/office/powerpoint/2010/main" val="138272935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A118B-78B7-4F37-AF10-F28D6CAA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B4147-6026-4494-B25F-1C643A7E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412D37-FD7E-46D2-8581-2E7715F0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什么叫模拟量？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海水压强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光照强度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63C02B8-C6DC-4E0F-A51C-0919AC35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91391884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A118B-78B7-4F37-AF10-F28D6CAA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B4147-6026-4494-B25F-1C643A7E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412D37-FD7E-46D2-8581-2E7715F0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什么叫模拟量？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海水压强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随深度（空间）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光照强度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随位置（空间）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63C02B8-C6DC-4E0F-A51C-0919AC35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91391884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2D57C0-3017-4B05-81BC-B47A9F97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A0A38-A34F-4D0D-8331-F5FE4FA2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9C55E1-3D51-4639-981B-B060AF60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模拟量的关键：连续变化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499A3-C79F-436D-94AE-E9F92BD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33500" y="5048250"/>
            <a:ext cx="609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6EE1B-E2A9-4A04-9FD2-F814D63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33500" y="2238375"/>
            <a:ext cx="0" cy="28098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4065AEF-87DE-4B48-B836-9FE233B3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863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6D1B567-2049-4A15-A340-51EAAB15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45D8B-D9C9-41D6-9369-626335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76375" y="4330125"/>
            <a:ext cx="95250" cy="513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4100F-29DE-4B57-A003-A8102383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" y="4279112"/>
            <a:ext cx="95250" cy="5101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001AC-8782-4665-AB25-AEBED18E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66875" y="4228816"/>
            <a:ext cx="95250" cy="5029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68ED0-9223-4640-8016-CCFF10B9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62125" y="4179590"/>
            <a:ext cx="95250" cy="4922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719CE-8F91-43B5-A3D7-AE3A3FC6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57375" y="4131772"/>
            <a:ext cx="95250" cy="4781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985F3-5A17-4D27-ACE2-0FE7A748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952625" y="4085688"/>
            <a:ext cx="95250" cy="4608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4D2B3-2C53-4B4A-9AB7-02C3E39D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47875" y="4041645"/>
            <a:ext cx="95250" cy="4404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EC1E6-3A0C-486F-900B-4031D3B7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43125" y="3999933"/>
            <a:ext cx="95250" cy="4171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857F5-7B53-4462-9F1E-CE48A205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38375" y="3960815"/>
            <a:ext cx="95250" cy="3911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BB27E-3D55-4F86-9B22-D8A8912E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33625" y="3924530"/>
            <a:ext cx="95250" cy="3628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D4025-8435-4016-A0B9-985963FC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28875" y="3891287"/>
            <a:ext cx="95250" cy="3324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F676B-BE6A-4BC0-90D4-218648F9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24125" y="3861268"/>
            <a:ext cx="95250" cy="3001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D4F418-CA0F-432F-9015-E0D6B3EF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619375" y="3834620"/>
            <a:ext cx="95250" cy="2664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ABF50-D8DD-4793-96D0-25127A2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3811456"/>
            <a:ext cx="95250" cy="2316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592DE-0A06-4552-AA76-CCC37E59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09875" y="3791857"/>
            <a:ext cx="95250" cy="196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DF49D-47C6-4D5F-AA3D-891D7251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05125" y="3775864"/>
            <a:ext cx="95250" cy="1599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BC33B-F60F-4C15-BEE2-65328573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00375" y="3763487"/>
            <a:ext cx="95250" cy="1237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95466-90A9-420A-B679-4176F7C3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95625" y="3754696"/>
            <a:ext cx="95250" cy="879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8F9EF-8091-45BD-910C-9C5DE757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90875" y="3749427"/>
            <a:ext cx="95250" cy="526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11611-1420-4279-80D2-EFC63BC8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86125" y="3747580"/>
            <a:ext cx="95250" cy="184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494AA8-14F1-4767-BF9A-2997DC9E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81375" y="3747580"/>
            <a:ext cx="95250" cy="144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082E9-EA76-4FC8-A3A8-F89DF583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6625" y="3749021"/>
            <a:ext cx="95250" cy="456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478CD-93C2-4288-A3E2-920C3D8A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1875" y="3753585"/>
            <a:ext cx="95250" cy="748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BE2032-B57B-4DE5-A515-9BB08667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3761072"/>
            <a:ext cx="95250" cy="1018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C8F4C9-BE58-4473-A3BA-BA2313DD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3771256"/>
            <a:ext cx="95250" cy="1262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B15996-B10C-4FA2-B24F-088BAE73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7625" y="3783883"/>
            <a:ext cx="95250" cy="1479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24ECDC-5E8F-4235-AB9D-A3F2CAB9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798674"/>
            <a:ext cx="95250" cy="1665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1C4B16-A0F7-409A-988E-A80E7761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3815330"/>
            <a:ext cx="95250" cy="1820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076560-EE8A-4052-AFDE-83E4E5A4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43375" y="3833531"/>
            <a:ext cx="95250" cy="1941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F1BB66-9565-487F-B48A-AD1EF2BB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38625" y="3852944"/>
            <a:ext cx="95250" cy="2027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BE06D8-63D5-4704-9FD3-7FD1C59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33875" y="3873222"/>
            <a:ext cx="95250" cy="2078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E4C6D2-70ED-473B-8717-B15BAFFC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9125" y="3894010"/>
            <a:ext cx="95250" cy="2093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D5E5DF-2CEB-4484-A329-6458563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4375" y="3914949"/>
            <a:ext cx="95250" cy="2072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EF8F57-D7B8-4A28-A97B-8E563AC0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19625" y="3935676"/>
            <a:ext cx="95250" cy="2015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A0E536-BC22-4EA6-951E-112254FD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3955833"/>
            <a:ext cx="95250" cy="1923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1B695C-25E8-4BDE-B61B-0D8EE0AD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10125" y="3975066"/>
            <a:ext cx="95250" cy="1796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8354B8-6858-4572-8ACC-E212E253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05375" y="3993030"/>
            <a:ext cx="95250" cy="1636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7F69F1-4E43-4613-B51A-9B950383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00625" y="4009394"/>
            <a:ext cx="95250" cy="1444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17B4D7-6AB3-4188-B85E-49525DA5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95875" y="4023842"/>
            <a:ext cx="95250" cy="1223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BCD488-4089-4394-87AB-ABCECDC9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4036077"/>
            <a:ext cx="95250" cy="974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32BB16-A3D3-4249-81F6-DA4EE83B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86375" y="4045825"/>
            <a:ext cx="95250" cy="701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6289E4-AF9C-4D4D-9A3A-1C24E038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81625" y="4052835"/>
            <a:ext cx="95250" cy="405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1BD74C-5487-45AA-9A0D-022AC2DE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4056887"/>
            <a:ext cx="95250" cy="89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1C0259-AA09-4245-979C-44E31A53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2125" y="4055372"/>
            <a:ext cx="95250" cy="241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C7F6FD-5DBE-40BC-B130-D225EAFF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67375" y="4049517"/>
            <a:ext cx="95250" cy="585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794197-6176-451E-B88A-D235F2E4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62625" y="4040126"/>
            <a:ext cx="95250" cy="939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70A6AF-AFEB-4C47-81C0-7979C871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57875" y="4027142"/>
            <a:ext cx="95250" cy="1298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644EEB-BE64-4ACB-8862-6FD91A05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53125" y="4010542"/>
            <a:ext cx="95250" cy="166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A291F1-6E44-4C60-9BB6-378E193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48375" y="3990339"/>
            <a:ext cx="95250" cy="2020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B7565A-5DB1-47F4-A93C-72BEEE50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43625" y="3966583"/>
            <a:ext cx="95250" cy="2375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B16274-5A00-452D-BC19-63A445E0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875" y="3939359"/>
            <a:ext cx="95250" cy="2722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F46457-C80D-4E14-A1E1-7CD6A455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34125" y="3908786"/>
            <a:ext cx="95250" cy="3057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937DB6-CA87-4FA6-8FCE-4AA78934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29375" y="3875019"/>
            <a:ext cx="95250" cy="3376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417E3A-B7C0-48F5-92D2-6B392EF5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524625" y="3838242"/>
            <a:ext cx="95250" cy="3677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F509BD-918C-44A2-B35D-A0EFD4A8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19875" y="3798670"/>
            <a:ext cx="95250" cy="3957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6A9FF8-6874-4517-A6D8-9872B7C5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715125" y="3756547"/>
            <a:ext cx="95250" cy="4212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3F2D35-CB2B-4598-A165-C65B68E1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10375" y="3712141"/>
            <a:ext cx="95250" cy="4440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640F4E-411E-45D4-A316-4AEA1DB2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05625" y="3665743"/>
            <a:ext cx="95250" cy="4639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E738E4-D02A-4286-8C33-497317B3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00875" y="3617665"/>
            <a:ext cx="95250" cy="4807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592A87E8-0873-4DB3-90AD-1C7BB69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两次测量之间，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仍有连续变化的温度。</a:t>
            </a:r>
          </a:p>
        </p:txBody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11A31930-2B25-4FF8-A1C9-E01F0E0B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示意曲线</a:t>
            </a:r>
          </a:p>
        </p:txBody>
      </p:sp>
    </p:spTree>
    <p:extLst>
      <p:ext uri="{BB962C8B-B14F-4D97-AF65-F5344CB8AC3E}">
        <p14:creationId xmlns:p14="http://schemas.microsoft.com/office/powerpoint/2010/main" val="133067118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7F5E1-F30A-4E5C-8797-9EEAA2BB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1CB38-2D74-4748-8CD8-88DD0848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935249-4DA0-4BC9-BE34-4E17A7ED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13397D-B6B2-458A-A5C3-55A13904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220D3-1E6D-4C48-A4CA-946A6AE4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D9824-8046-4F19-973D-EEFC907A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3F785-DD52-494D-B71F-10D0337B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2E023-7C5E-4B6F-BCD9-B409DF3A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F6B23-557D-4DD5-9993-6A6D37CB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FCA754A-0EE9-46ED-A968-B311362F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313D1-794B-4FD8-B3E7-FE237EDF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02774-4AFA-47E4-B6BC-170F0CE7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503A4-FE3C-4E0D-BFCD-27EB0BDE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3D09B-93EC-4848-A471-75CE9BB6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6D8EC17-F8C8-48DC-AB64-8FEC980C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</p:spTree>
    <p:extLst>
      <p:ext uri="{BB962C8B-B14F-4D97-AF65-F5344CB8AC3E}">
        <p14:creationId xmlns:p14="http://schemas.microsoft.com/office/powerpoint/2010/main" val="158638907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7F5E1-F30A-4E5C-8797-9EEAA2BB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1CB38-2D74-4748-8CD8-88DD0848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935249-4DA0-4BC9-BE34-4E17A7ED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13397D-B6B2-458A-A5C3-55A13904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220D3-1E6D-4C48-A4CA-946A6AE4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D9824-8046-4F19-973D-EEFC907A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3F785-DD52-494D-B71F-10D0337B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2E023-7C5E-4B6F-BCD9-B409DF3A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F6B23-557D-4DD5-9993-6A6D37CB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FCA754A-0EE9-46ED-A968-B311362F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313D1-794B-4FD8-B3E7-FE237EDF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02774-4AFA-47E4-B6BC-170F0CE7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503A4-FE3C-4E0D-BFCD-27EB0BDE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3D09B-93EC-4848-A471-75CE9BB6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B6D8EC17-F8C8-48DC-AB64-8FEC980C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6019212-E912-4CB6-8A35-FB77E23E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有限位置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7B72AED9-9722-46D8-91CA-FF9511AF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有限等级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C33D6C30-1FD3-42E4-9A75-19C8EDB0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00、01、10、11：离散码字</a:t>
            </a:r>
          </a:p>
        </p:txBody>
      </p:sp>
    </p:spTree>
    <p:extLst>
      <p:ext uri="{BB962C8B-B14F-4D97-AF65-F5344CB8AC3E}">
        <p14:creationId xmlns:p14="http://schemas.microsoft.com/office/powerpoint/2010/main" val="158638907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01B50-D345-4DFE-92A9-074F38EB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9D9FC-B8BE-4E16-A6B9-E1642FAA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14AF562-19D6-473A-B758-242A48F4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16B3AE7-01BC-4E60-B291-B16EF609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B3FFF67-FA71-4733-A2BC-F8D7D55F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2529E4E-3D48-4F86-BA8F-F51574A9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</p:spTree>
    <p:extLst>
      <p:ext uri="{BB962C8B-B14F-4D97-AF65-F5344CB8AC3E}">
        <p14:creationId xmlns:p14="http://schemas.microsoft.com/office/powerpoint/2010/main" val="176078718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01B50-D345-4DFE-92A9-074F38EB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9D9FC-B8BE-4E16-A6B9-E1642FAA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14AF562-19D6-473A-B758-242A48F4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16B3AE7-01BC-4E60-B291-B16EF609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B3FFF67-FA71-4733-A2BC-F8D7D55F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2529E4E-3D48-4F86-BA8F-F51574A9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B3163EA-B4FD-4C81-8283-74A707F8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670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 → 量化 → 编码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D5EB234-3D56-44EC-9ACF-B3E6BA57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435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信息数字化</a:t>
            </a:r>
          </a:p>
        </p:txBody>
      </p:sp>
    </p:spTree>
    <p:extLst>
      <p:ext uri="{BB962C8B-B14F-4D97-AF65-F5344CB8AC3E}">
        <p14:creationId xmlns:p14="http://schemas.microsoft.com/office/powerpoint/2010/main" val="17607871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DE86D-B5A7-47AD-989D-1CE2F8E0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1F3F4-35C2-4986-A976-83E68A56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3862B85-38BA-4E42-9D36-490C303B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613F2F-106C-4EE0-AB4E-DDCF2D3D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一幅图只用6种颜色，最少需要几bit？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6561D9-E775-470B-AEA9-97FC5A3B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800×600的24位RGB图像，像素数据量是多少B？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D4A2CDE-9F10-41ED-9511-D73E504D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把图像宽、高都放大2倍，就得到了新细节吗？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C8B3281-BD9A-4435-8EAE-59C3899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说明理由；计算时写出单位。</a:t>
            </a:r>
          </a:p>
        </p:txBody>
      </p:sp>
    </p:spTree>
    <p:extLst>
      <p:ext uri="{BB962C8B-B14F-4D97-AF65-F5344CB8AC3E}">
        <p14:creationId xmlns:p14="http://schemas.microsoft.com/office/powerpoint/2010/main" val="463695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2026-09-29T20:58:30.6440000Z</dcterms:created>
  <dcterms:modified xsi:type="dcterms:W3CDTF">2026-09-29T20:58:30.6440000Z</dcterms:modified>
</coreProperties>
</file>